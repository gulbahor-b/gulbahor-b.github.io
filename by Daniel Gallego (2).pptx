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Saira" charset="1" panose="00000500000000000000"/>
      <p:regular r:id="rId12"/>
    </p:embeddedFont>
    <p:embeddedFont>
      <p:font typeface="Saira Heavy" charset="1" panose="00000A00000000000000"/>
      <p:regular r:id="rId13"/>
    </p:embeddedFont>
    <p:embeddedFont>
      <p:font typeface="Gagalin" charset="1" panose="00000500000000000000"/>
      <p:regular r:id="rId14"/>
    </p:embeddedFont>
    <p:embeddedFont>
      <p:font typeface="Saira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ECDDD4"/>
        </a:solidFill>
      </p:bgPr>
    </p:bg>
    <p:spTree>
      <p:nvGrpSpPr>
        <p:cNvPr id="1" name=""/>
        <p:cNvGrpSpPr/>
        <p:nvPr/>
      </p:nvGrpSpPr>
      <p:grpSpPr>
        <a:xfrm>
          <a:off x="0" y="0"/>
          <a:ext cx="0" cy="0"/>
          <a:chOff x="0" y="0"/>
          <a:chExt cx="0" cy="0"/>
        </a:xfrm>
      </p:grpSpPr>
      <p:grpSp>
        <p:nvGrpSpPr>
          <p:cNvPr name="Group 2" id="2"/>
          <p:cNvGrpSpPr/>
          <p:nvPr/>
        </p:nvGrpSpPr>
        <p:grpSpPr>
          <a:xfrm rot="0">
            <a:off x="15272036" y="0"/>
            <a:ext cx="3110490" cy="633626"/>
            <a:chOff x="0" y="0"/>
            <a:chExt cx="819224" cy="166881"/>
          </a:xfrm>
        </p:grpSpPr>
        <p:sp>
          <p:nvSpPr>
            <p:cNvPr name="Freeform 3" id="3"/>
            <p:cNvSpPr/>
            <p:nvPr/>
          </p:nvSpPr>
          <p:spPr>
            <a:xfrm flipH="false" flipV="false" rot="0">
              <a:off x="0" y="0"/>
              <a:ext cx="819224" cy="166881"/>
            </a:xfrm>
            <a:custGeom>
              <a:avLst/>
              <a:gdLst/>
              <a:ahLst/>
              <a:cxnLst/>
              <a:rect r="r" b="b" t="t" l="l"/>
              <a:pathLst>
                <a:path h="166881" w="819224">
                  <a:moveTo>
                    <a:pt x="37335" y="0"/>
                  </a:moveTo>
                  <a:lnTo>
                    <a:pt x="781889" y="0"/>
                  </a:lnTo>
                  <a:cubicBezTo>
                    <a:pt x="791791" y="0"/>
                    <a:pt x="801287" y="3933"/>
                    <a:pt x="808289" y="10935"/>
                  </a:cubicBezTo>
                  <a:cubicBezTo>
                    <a:pt x="815290" y="17937"/>
                    <a:pt x="819224" y="27433"/>
                    <a:pt x="819224" y="37335"/>
                  </a:cubicBezTo>
                  <a:lnTo>
                    <a:pt x="819224" y="129546"/>
                  </a:lnTo>
                  <a:cubicBezTo>
                    <a:pt x="819224" y="139448"/>
                    <a:pt x="815290" y="148944"/>
                    <a:pt x="808289" y="155946"/>
                  </a:cubicBezTo>
                  <a:cubicBezTo>
                    <a:pt x="801287" y="162948"/>
                    <a:pt x="791791" y="166881"/>
                    <a:pt x="781889" y="166881"/>
                  </a:cubicBezTo>
                  <a:lnTo>
                    <a:pt x="37335" y="166881"/>
                  </a:lnTo>
                  <a:cubicBezTo>
                    <a:pt x="16715" y="166881"/>
                    <a:pt x="0" y="150166"/>
                    <a:pt x="0" y="129546"/>
                  </a:cubicBezTo>
                  <a:lnTo>
                    <a:pt x="0" y="37335"/>
                  </a:lnTo>
                  <a:cubicBezTo>
                    <a:pt x="0" y="27433"/>
                    <a:pt x="3933" y="17937"/>
                    <a:pt x="10935" y="10935"/>
                  </a:cubicBezTo>
                  <a:cubicBezTo>
                    <a:pt x="17937" y="3933"/>
                    <a:pt x="27433" y="0"/>
                    <a:pt x="37335" y="0"/>
                  </a:cubicBezTo>
                  <a:close/>
                </a:path>
              </a:pathLst>
            </a:custGeom>
            <a:solidFill>
              <a:srgbClr val="442D26"/>
            </a:solidFill>
          </p:spPr>
        </p:sp>
        <p:sp>
          <p:nvSpPr>
            <p:cNvPr name="TextBox 4" id="4"/>
            <p:cNvSpPr txBox="true"/>
            <p:nvPr/>
          </p:nvSpPr>
          <p:spPr>
            <a:xfrm>
              <a:off x="0" y="85725"/>
              <a:ext cx="819224" cy="81156"/>
            </a:xfrm>
            <a:prstGeom prst="rect">
              <a:avLst/>
            </a:prstGeom>
          </p:spPr>
          <p:txBody>
            <a:bodyPr anchor="ctr" rtlCol="false" tIns="50800" lIns="50800" bIns="50800" rIns="50800"/>
            <a:lstStyle/>
            <a:p>
              <a:pPr algn="ctr">
                <a:lnSpc>
                  <a:spcPts val="1620"/>
                </a:lnSpc>
              </a:pPr>
              <a:r>
                <a:rPr lang="en-US" sz="2189">
                  <a:solidFill>
                    <a:srgbClr val="FFFFFF"/>
                  </a:solidFill>
                  <a:latin typeface="Saira"/>
                  <a:ea typeface="Saira"/>
                  <a:cs typeface="Saira"/>
                  <a:sym typeface="Saira"/>
                </a:rPr>
                <a:t>Page 1</a:t>
              </a:r>
            </a:p>
          </p:txBody>
        </p:sp>
      </p:grpSp>
      <p:sp>
        <p:nvSpPr>
          <p:cNvPr name="TextBox 5" id="5"/>
          <p:cNvSpPr txBox="true"/>
          <p:nvPr/>
        </p:nvSpPr>
        <p:spPr>
          <a:xfrm rot="0">
            <a:off x="7486440" y="2995155"/>
            <a:ext cx="9614194" cy="2692234"/>
          </a:xfrm>
          <a:prstGeom prst="rect">
            <a:avLst/>
          </a:prstGeom>
        </p:spPr>
        <p:txBody>
          <a:bodyPr anchor="t" rtlCol="false" tIns="0" lIns="0" bIns="0" rIns="0">
            <a:spAutoFit/>
          </a:bodyPr>
          <a:lstStyle/>
          <a:p>
            <a:pPr algn="l">
              <a:lnSpc>
                <a:spcPts val="10368"/>
              </a:lnSpc>
            </a:pPr>
            <a:r>
              <a:rPr lang="en-US" sz="10368" b="true">
                <a:solidFill>
                  <a:srgbClr val="785042"/>
                </a:solidFill>
                <a:latin typeface="Saira Heavy"/>
                <a:ea typeface="Saira Heavy"/>
                <a:cs typeface="Saira Heavy"/>
                <a:sym typeface="Saira Heavy"/>
              </a:rPr>
              <a:t>BEHRUZ</a:t>
            </a:r>
          </a:p>
          <a:p>
            <a:pPr algn="l">
              <a:lnSpc>
                <a:spcPts val="10368"/>
              </a:lnSpc>
            </a:pPr>
            <a:r>
              <a:rPr lang="en-US" sz="10368" b="true">
                <a:solidFill>
                  <a:srgbClr val="785042"/>
                </a:solidFill>
                <a:latin typeface="Saira Heavy"/>
                <a:ea typeface="Saira Heavy"/>
                <a:cs typeface="Saira Heavy"/>
                <a:sym typeface="Saira Heavy"/>
              </a:rPr>
              <a:t>TURSUNBOYEV</a:t>
            </a:r>
          </a:p>
        </p:txBody>
      </p:sp>
      <p:sp>
        <p:nvSpPr>
          <p:cNvPr name="TextBox 6" id="6"/>
          <p:cNvSpPr txBox="true"/>
          <p:nvPr/>
        </p:nvSpPr>
        <p:spPr>
          <a:xfrm rot="0">
            <a:off x="7834415" y="6758989"/>
            <a:ext cx="6771390" cy="780651"/>
          </a:xfrm>
          <a:prstGeom prst="rect">
            <a:avLst/>
          </a:prstGeom>
        </p:spPr>
        <p:txBody>
          <a:bodyPr anchor="t" rtlCol="false" tIns="0" lIns="0" bIns="0" rIns="0">
            <a:spAutoFit/>
          </a:bodyPr>
          <a:lstStyle/>
          <a:p>
            <a:pPr algn="l">
              <a:lnSpc>
                <a:spcPts val="3210"/>
              </a:lnSpc>
            </a:pPr>
            <a:r>
              <a:rPr lang="en-US" sz="2292">
                <a:solidFill>
                  <a:srgbClr val="442D26"/>
                </a:solidFill>
                <a:latin typeface="Saira"/>
                <a:ea typeface="Saira"/>
                <a:cs typeface="Saira"/>
                <a:sym typeface="Saira"/>
              </a:rPr>
              <a:t>behruztursunboyev190@gmail.com</a:t>
            </a:r>
          </a:p>
          <a:p>
            <a:pPr algn="l">
              <a:lnSpc>
                <a:spcPts val="3210"/>
              </a:lnSpc>
            </a:pPr>
            <a:r>
              <a:rPr lang="en-US" sz="2292">
                <a:solidFill>
                  <a:srgbClr val="442D26"/>
                </a:solidFill>
                <a:latin typeface="Saira"/>
                <a:ea typeface="Saira"/>
                <a:cs typeface="Saira"/>
                <a:sym typeface="Saira"/>
              </a:rPr>
              <a:t>+998998170500</a:t>
            </a:r>
          </a:p>
        </p:txBody>
      </p:sp>
      <p:sp>
        <p:nvSpPr>
          <p:cNvPr name="TextBox 7" id="7"/>
          <p:cNvSpPr txBox="true"/>
          <p:nvPr/>
        </p:nvSpPr>
        <p:spPr>
          <a:xfrm rot="0">
            <a:off x="16395263" y="1267260"/>
            <a:ext cx="864037" cy="242231"/>
          </a:xfrm>
          <a:prstGeom prst="rect">
            <a:avLst/>
          </a:prstGeom>
        </p:spPr>
        <p:txBody>
          <a:bodyPr anchor="t" rtlCol="false" tIns="0" lIns="0" bIns="0" rIns="0">
            <a:spAutoFit/>
          </a:bodyPr>
          <a:lstStyle/>
          <a:p>
            <a:pPr algn="r">
              <a:lnSpc>
                <a:spcPts val="1620"/>
              </a:lnSpc>
            </a:pPr>
            <a:r>
              <a:rPr lang="en-US" sz="2189">
                <a:solidFill>
                  <a:srgbClr val="ECDDD4"/>
                </a:solidFill>
                <a:latin typeface="Saira"/>
                <a:ea typeface="Saira"/>
                <a:cs typeface="Saira"/>
                <a:sym typeface="Saira"/>
              </a:rPr>
              <a:t>Page 1</a:t>
            </a:r>
          </a:p>
        </p:txBody>
      </p:sp>
      <p:sp>
        <p:nvSpPr>
          <p:cNvPr name="TextBox 8" id="8"/>
          <p:cNvSpPr txBox="true"/>
          <p:nvPr/>
        </p:nvSpPr>
        <p:spPr>
          <a:xfrm rot="0">
            <a:off x="6903834" y="5992354"/>
            <a:ext cx="8049946" cy="585660"/>
          </a:xfrm>
          <a:prstGeom prst="rect">
            <a:avLst/>
          </a:prstGeom>
        </p:spPr>
        <p:txBody>
          <a:bodyPr anchor="t" rtlCol="false" tIns="0" lIns="0" bIns="0" rIns="0">
            <a:spAutoFit/>
          </a:bodyPr>
          <a:lstStyle/>
          <a:p>
            <a:pPr algn="ctr">
              <a:lnSpc>
                <a:spcPts val="4411"/>
              </a:lnSpc>
              <a:spcBef>
                <a:spcPct val="0"/>
              </a:spcBef>
            </a:pPr>
            <a:r>
              <a:rPr lang="en-US" b="true" sz="4411">
                <a:solidFill>
                  <a:srgbClr val="000000"/>
                </a:solidFill>
                <a:latin typeface="Saira Heavy"/>
                <a:ea typeface="Saira Heavy"/>
                <a:cs typeface="Saira Heavy"/>
                <a:sym typeface="Saira Heavy"/>
              </a:rPr>
              <a:t>HIGH SCHOOL STUDENT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CDDD4"/>
        </a:solidFill>
      </p:bgPr>
    </p:bg>
    <p:spTree>
      <p:nvGrpSpPr>
        <p:cNvPr id="1" name=""/>
        <p:cNvGrpSpPr/>
        <p:nvPr/>
      </p:nvGrpSpPr>
      <p:grpSpPr>
        <a:xfrm>
          <a:off x="0" y="0"/>
          <a:ext cx="0" cy="0"/>
          <a:chOff x="0" y="0"/>
          <a:chExt cx="0" cy="0"/>
        </a:xfrm>
      </p:grpSpPr>
      <p:grpSp>
        <p:nvGrpSpPr>
          <p:cNvPr name="Group 2" id="2"/>
          <p:cNvGrpSpPr/>
          <p:nvPr/>
        </p:nvGrpSpPr>
        <p:grpSpPr>
          <a:xfrm rot="0">
            <a:off x="15353500" y="0"/>
            <a:ext cx="3110490" cy="633626"/>
            <a:chOff x="0" y="0"/>
            <a:chExt cx="819224" cy="166881"/>
          </a:xfrm>
        </p:grpSpPr>
        <p:sp>
          <p:nvSpPr>
            <p:cNvPr name="Freeform 3" id="3"/>
            <p:cNvSpPr/>
            <p:nvPr/>
          </p:nvSpPr>
          <p:spPr>
            <a:xfrm flipH="false" flipV="false" rot="0">
              <a:off x="0" y="0"/>
              <a:ext cx="819224" cy="166881"/>
            </a:xfrm>
            <a:custGeom>
              <a:avLst/>
              <a:gdLst/>
              <a:ahLst/>
              <a:cxnLst/>
              <a:rect r="r" b="b" t="t" l="l"/>
              <a:pathLst>
                <a:path h="166881" w="819224">
                  <a:moveTo>
                    <a:pt x="37335" y="0"/>
                  </a:moveTo>
                  <a:lnTo>
                    <a:pt x="781889" y="0"/>
                  </a:lnTo>
                  <a:cubicBezTo>
                    <a:pt x="791791" y="0"/>
                    <a:pt x="801287" y="3933"/>
                    <a:pt x="808289" y="10935"/>
                  </a:cubicBezTo>
                  <a:cubicBezTo>
                    <a:pt x="815290" y="17937"/>
                    <a:pt x="819224" y="27433"/>
                    <a:pt x="819224" y="37335"/>
                  </a:cubicBezTo>
                  <a:lnTo>
                    <a:pt x="819224" y="129546"/>
                  </a:lnTo>
                  <a:cubicBezTo>
                    <a:pt x="819224" y="139448"/>
                    <a:pt x="815290" y="148944"/>
                    <a:pt x="808289" y="155946"/>
                  </a:cubicBezTo>
                  <a:cubicBezTo>
                    <a:pt x="801287" y="162948"/>
                    <a:pt x="791791" y="166881"/>
                    <a:pt x="781889" y="166881"/>
                  </a:cubicBezTo>
                  <a:lnTo>
                    <a:pt x="37335" y="166881"/>
                  </a:lnTo>
                  <a:cubicBezTo>
                    <a:pt x="16715" y="166881"/>
                    <a:pt x="0" y="150166"/>
                    <a:pt x="0" y="129546"/>
                  </a:cubicBezTo>
                  <a:lnTo>
                    <a:pt x="0" y="37335"/>
                  </a:lnTo>
                  <a:cubicBezTo>
                    <a:pt x="0" y="27433"/>
                    <a:pt x="3933" y="17937"/>
                    <a:pt x="10935" y="10935"/>
                  </a:cubicBezTo>
                  <a:cubicBezTo>
                    <a:pt x="17937" y="3933"/>
                    <a:pt x="27433" y="0"/>
                    <a:pt x="37335" y="0"/>
                  </a:cubicBezTo>
                  <a:close/>
                </a:path>
              </a:pathLst>
            </a:custGeom>
            <a:solidFill>
              <a:srgbClr val="442D26"/>
            </a:solidFill>
          </p:spPr>
        </p:sp>
        <p:sp>
          <p:nvSpPr>
            <p:cNvPr name="TextBox 4" id="4"/>
            <p:cNvSpPr txBox="true"/>
            <p:nvPr/>
          </p:nvSpPr>
          <p:spPr>
            <a:xfrm>
              <a:off x="0" y="85725"/>
              <a:ext cx="819224" cy="81156"/>
            </a:xfrm>
            <a:prstGeom prst="rect">
              <a:avLst/>
            </a:prstGeom>
          </p:spPr>
          <p:txBody>
            <a:bodyPr anchor="ctr" rtlCol="false" tIns="50800" lIns="50800" bIns="50800" rIns="50800"/>
            <a:lstStyle/>
            <a:p>
              <a:pPr algn="ctr">
                <a:lnSpc>
                  <a:spcPts val="1620"/>
                </a:lnSpc>
              </a:pPr>
              <a:r>
                <a:rPr lang="en-US" sz="2189">
                  <a:solidFill>
                    <a:srgbClr val="FFFFFF"/>
                  </a:solidFill>
                  <a:latin typeface="Saira"/>
                  <a:ea typeface="Saira"/>
                  <a:cs typeface="Saira"/>
                  <a:sym typeface="Saira"/>
                </a:rPr>
                <a:t>Page 3</a:t>
              </a:r>
            </a:p>
          </p:txBody>
        </p:sp>
      </p:grpSp>
      <p:grpSp>
        <p:nvGrpSpPr>
          <p:cNvPr name="Group 5" id="5"/>
          <p:cNvGrpSpPr/>
          <p:nvPr/>
        </p:nvGrpSpPr>
        <p:grpSpPr>
          <a:xfrm rot="0">
            <a:off x="-657668" y="-443442"/>
            <a:ext cx="11857610" cy="11173884"/>
            <a:chOff x="0" y="0"/>
            <a:chExt cx="3122992" cy="2942916"/>
          </a:xfrm>
        </p:grpSpPr>
        <p:sp>
          <p:nvSpPr>
            <p:cNvPr name="Freeform 6" id="6"/>
            <p:cNvSpPr/>
            <p:nvPr/>
          </p:nvSpPr>
          <p:spPr>
            <a:xfrm flipH="false" flipV="false" rot="0">
              <a:off x="0" y="0"/>
              <a:ext cx="3122992" cy="2942916"/>
            </a:xfrm>
            <a:custGeom>
              <a:avLst/>
              <a:gdLst/>
              <a:ahLst/>
              <a:cxnLst/>
              <a:rect r="r" b="b" t="t" l="l"/>
              <a:pathLst>
                <a:path h="2942916" w="3122992">
                  <a:moveTo>
                    <a:pt x="9794" y="0"/>
                  </a:moveTo>
                  <a:lnTo>
                    <a:pt x="3113198" y="0"/>
                  </a:lnTo>
                  <a:cubicBezTo>
                    <a:pt x="3115796" y="0"/>
                    <a:pt x="3118287" y="1032"/>
                    <a:pt x="3120124" y="2868"/>
                  </a:cubicBezTo>
                  <a:cubicBezTo>
                    <a:pt x="3121960" y="4705"/>
                    <a:pt x="3122992" y="7196"/>
                    <a:pt x="3122992" y="9794"/>
                  </a:cubicBezTo>
                  <a:lnTo>
                    <a:pt x="3122992" y="2933122"/>
                  </a:lnTo>
                  <a:cubicBezTo>
                    <a:pt x="3122992" y="2938531"/>
                    <a:pt x="3118607" y="2942916"/>
                    <a:pt x="3113198" y="2942916"/>
                  </a:cubicBezTo>
                  <a:lnTo>
                    <a:pt x="9794" y="2942916"/>
                  </a:lnTo>
                  <a:cubicBezTo>
                    <a:pt x="7196" y="2942916"/>
                    <a:pt x="4705" y="2941884"/>
                    <a:pt x="2868" y="2940047"/>
                  </a:cubicBezTo>
                  <a:cubicBezTo>
                    <a:pt x="1032" y="2938211"/>
                    <a:pt x="0" y="2935720"/>
                    <a:pt x="0" y="2933122"/>
                  </a:cubicBezTo>
                  <a:lnTo>
                    <a:pt x="0" y="9794"/>
                  </a:lnTo>
                  <a:cubicBezTo>
                    <a:pt x="0" y="7196"/>
                    <a:pt x="1032" y="4705"/>
                    <a:pt x="2868" y="2868"/>
                  </a:cubicBezTo>
                  <a:cubicBezTo>
                    <a:pt x="4705" y="1032"/>
                    <a:pt x="7196" y="0"/>
                    <a:pt x="9794" y="0"/>
                  </a:cubicBezTo>
                  <a:close/>
                </a:path>
              </a:pathLst>
            </a:custGeom>
            <a:solidFill>
              <a:srgbClr val="442D26"/>
            </a:solidFill>
          </p:spPr>
        </p:sp>
        <p:sp>
          <p:nvSpPr>
            <p:cNvPr name="TextBox 7" id="7"/>
            <p:cNvSpPr txBox="true"/>
            <p:nvPr/>
          </p:nvSpPr>
          <p:spPr>
            <a:xfrm>
              <a:off x="0" y="85725"/>
              <a:ext cx="3122992" cy="2857191"/>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7046384" y="1968556"/>
            <a:ext cx="8307116" cy="7289744"/>
            <a:chOff x="0" y="0"/>
            <a:chExt cx="1286990" cy="1129372"/>
          </a:xfrm>
        </p:grpSpPr>
        <p:sp>
          <p:nvSpPr>
            <p:cNvPr name="Freeform 9" id="9"/>
            <p:cNvSpPr/>
            <p:nvPr/>
          </p:nvSpPr>
          <p:spPr>
            <a:xfrm flipH="false" flipV="false" rot="0">
              <a:off x="0" y="0"/>
              <a:ext cx="1286990" cy="1129372"/>
            </a:xfrm>
            <a:custGeom>
              <a:avLst/>
              <a:gdLst/>
              <a:ahLst/>
              <a:cxnLst/>
              <a:rect r="r" b="b" t="t" l="l"/>
              <a:pathLst>
                <a:path h="1129372" w="1286990">
                  <a:moveTo>
                    <a:pt x="21435" y="0"/>
                  </a:moveTo>
                  <a:lnTo>
                    <a:pt x="1265555" y="0"/>
                  </a:lnTo>
                  <a:cubicBezTo>
                    <a:pt x="1277393" y="0"/>
                    <a:pt x="1286990" y="9597"/>
                    <a:pt x="1286990" y="21435"/>
                  </a:cubicBezTo>
                  <a:lnTo>
                    <a:pt x="1286990" y="1107937"/>
                  </a:lnTo>
                  <a:cubicBezTo>
                    <a:pt x="1286990" y="1113622"/>
                    <a:pt x="1284731" y="1119074"/>
                    <a:pt x="1280711" y="1123094"/>
                  </a:cubicBezTo>
                  <a:cubicBezTo>
                    <a:pt x="1276692" y="1127114"/>
                    <a:pt x="1271239" y="1129372"/>
                    <a:pt x="1265555" y="1129372"/>
                  </a:cubicBezTo>
                  <a:lnTo>
                    <a:pt x="21435" y="1129372"/>
                  </a:lnTo>
                  <a:cubicBezTo>
                    <a:pt x="9597" y="1129372"/>
                    <a:pt x="0" y="1119775"/>
                    <a:pt x="0" y="1107937"/>
                  </a:cubicBezTo>
                  <a:lnTo>
                    <a:pt x="0" y="21435"/>
                  </a:lnTo>
                  <a:cubicBezTo>
                    <a:pt x="0" y="9597"/>
                    <a:pt x="9597" y="0"/>
                    <a:pt x="21435" y="0"/>
                  </a:cubicBezTo>
                  <a:close/>
                </a:path>
              </a:pathLst>
            </a:custGeom>
            <a:blipFill>
              <a:blip r:embed="rId2"/>
              <a:stretch>
                <a:fillRect l="-8502" t="0" r="-8502" b="0"/>
              </a:stretch>
            </a:blipFill>
          </p:spPr>
        </p:sp>
      </p:grpSp>
      <p:sp>
        <p:nvSpPr>
          <p:cNvPr name="TextBox 10" id="10"/>
          <p:cNvSpPr txBox="true"/>
          <p:nvPr/>
        </p:nvSpPr>
        <p:spPr>
          <a:xfrm rot="0">
            <a:off x="1028700" y="2813169"/>
            <a:ext cx="4889638" cy="3241558"/>
          </a:xfrm>
          <a:prstGeom prst="rect">
            <a:avLst/>
          </a:prstGeom>
        </p:spPr>
        <p:txBody>
          <a:bodyPr anchor="t" rtlCol="false" tIns="0" lIns="0" bIns="0" rIns="0">
            <a:spAutoFit/>
          </a:bodyPr>
          <a:lstStyle/>
          <a:p>
            <a:pPr algn="l" marL="0" indent="0" lvl="0">
              <a:lnSpc>
                <a:spcPts val="12495"/>
              </a:lnSpc>
              <a:spcBef>
                <a:spcPct val="0"/>
              </a:spcBef>
            </a:pPr>
            <a:r>
              <a:rPr lang="en-US" sz="12495" strike="noStrike" u="none">
                <a:solidFill>
                  <a:srgbClr val="ECDDD4"/>
                </a:solidFill>
                <a:latin typeface="Gagalin"/>
                <a:ea typeface="Gagalin"/>
                <a:cs typeface="Gagalin"/>
                <a:sym typeface="Gagalin"/>
              </a:rPr>
              <a:t>EDUC-ATION</a:t>
            </a:r>
          </a:p>
        </p:txBody>
      </p:sp>
      <p:sp>
        <p:nvSpPr>
          <p:cNvPr name="TextBox 11" id="11"/>
          <p:cNvSpPr txBox="true"/>
          <p:nvPr/>
        </p:nvSpPr>
        <p:spPr>
          <a:xfrm rot="0">
            <a:off x="1028700" y="6170249"/>
            <a:ext cx="4889638" cy="838200"/>
          </a:xfrm>
          <a:prstGeom prst="rect">
            <a:avLst/>
          </a:prstGeom>
        </p:spPr>
        <p:txBody>
          <a:bodyPr anchor="t" rtlCol="false" tIns="0" lIns="0" bIns="0" rIns="0">
            <a:spAutoFit/>
          </a:bodyPr>
          <a:lstStyle/>
          <a:p>
            <a:pPr algn="l">
              <a:lnSpc>
                <a:spcPts val="3360"/>
              </a:lnSpc>
            </a:pPr>
            <a:r>
              <a:rPr lang="en-US" sz="2800">
                <a:solidFill>
                  <a:srgbClr val="ECDDD4"/>
                </a:solidFill>
                <a:latin typeface="Gagalin"/>
                <a:ea typeface="Gagalin"/>
                <a:cs typeface="Gagalin"/>
                <a:sym typeface="Gagalin"/>
              </a:rPr>
              <a:t>Buka district specialised school</a:t>
            </a:r>
          </a:p>
        </p:txBody>
      </p:sp>
      <p:sp>
        <p:nvSpPr>
          <p:cNvPr name="TextBox 12" id="12"/>
          <p:cNvSpPr txBox="true"/>
          <p:nvPr/>
        </p:nvSpPr>
        <p:spPr>
          <a:xfrm rot="0">
            <a:off x="1028700" y="7065599"/>
            <a:ext cx="3353996" cy="975890"/>
          </a:xfrm>
          <a:prstGeom prst="rect">
            <a:avLst/>
          </a:prstGeom>
        </p:spPr>
        <p:txBody>
          <a:bodyPr anchor="t" rtlCol="false" tIns="0" lIns="0" bIns="0" rIns="0">
            <a:spAutoFit/>
          </a:bodyPr>
          <a:lstStyle/>
          <a:p>
            <a:pPr algn="l">
              <a:lnSpc>
                <a:spcPts val="3960"/>
              </a:lnSpc>
            </a:pPr>
            <a:r>
              <a:rPr lang="en-US" sz="2829">
                <a:solidFill>
                  <a:srgbClr val="ECDDD4"/>
                </a:solidFill>
                <a:latin typeface="Gagalin"/>
                <a:ea typeface="Gagalin"/>
                <a:cs typeface="Gagalin"/>
                <a:sym typeface="Gagalin"/>
              </a:rPr>
              <a:t>9 shukrona street</a:t>
            </a:r>
          </a:p>
          <a:p>
            <a:pPr algn="l">
              <a:lnSpc>
                <a:spcPts val="3960"/>
              </a:lnSpc>
            </a:pPr>
            <a:r>
              <a:rPr lang="en-US" sz="2829">
                <a:solidFill>
                  <a:srgbClr val="ECDDD4"/>
                </a:solidFill>
                <a:latin typeface="Gagalin"/>
                <a:ea typeface="Gagalin"/>
                <a:cs typeface="Gagalin"/>
                <a:sym typeface="Gagalin"/>
              </a:rPr>
              <a:t>2022-now</a:t>
            </a:r>
          </a:p>
        </p:txBody>
      </p:sp>
      <p:sp>
        <p:nvSpPr>
          <p:cNvPr name="TextBox 13" id="13"/>
          <p:cNvSpPr txBox="true"/>
          <p:nvPr/>
        </p:nvSpPr>
        <p:spPr>
          <a:xfrm rot="0">
            <a:off x="16232336" y="1266062"/>
            <a:ext cx="1026964" cy="242231"/>
          </a:xfrm>
          <a:prstGeom prst="rect">
            <a:avLst/>
          </a:prstGeom>
        </p:spPr>
        <p:txBody>
          <a:bodyPr anchor="t" rtlCol="false" tIns="0" lIns="0" bIns="0" rIns="0">
            <a:spAutoFit/>
          </a:bodyPr>
          <a:lstStyle/>
          <a:p>
            <a:pPr algn="r">
              <a:lnSpc>
                <a:spcPts val="1620"/>
              </a:lnSpc>
            </a:pPr>
            <a:r>
              <a:rPr lang="en-US" sz="2189">
                <a:solidFill>
                  <a:srgbClr val="ECDDD4"/>
                </a:solidFill>
                <a:latin typeface="Saira"/>
                <a:ea typeface="Saira"/>
                <a:cs typeface="Saira"/>
                <a:sym typeface="Saira"/>
              </a:rPr>
              <a:t>Page 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CDDD4"/>
        </a:solidFill>
      </p:bgPr>
    </p:bg>
    <p:spTree>
      <p:nvGrpSpPr>
        <p:cNvPr id="1" name=""/>
        <p:cNvGrpSpPr/>
        <p:nvPr/>
      </p:nvGrpSpPr>
      <p:grpSpPr>
        <a:xfrm>
          <a:off x="0" y="0"/>
          <a:ext cx="0" cy="0"/>
          <a:chOff x="0" y="0"/>
          <a:chExt cx="0" cy="0"/>
        </a:xfrm>
      </p:grpSpPr>
      <p:grpSp>
        <p:nvGrpSpPr>
          <p:cNvPr name="Group 2" id="2"/>
          <p:cNvGrpSpPr/>
          <p:nvPr/>
        </p:nvGrpSpPr>
        <p:grpSpPr>
          <a:xfrm rot="0">
            <a:off x="15158403" y="0"/>
            <a:ext cx="3303584" cy="672022"/>
            <a:chOff x="0" y="0"/>
            <a:chExt cx="870080" cy="176993"/>
          </a:xfrm>
        </p:grpSpPr>
        <p:sp>
          <p:nvSpPr>
            <p:cNvPr name="Freeform 3" id="3"/>
            <p:cNvSpPr/>
            <p:nvPr/>
          </p:nvSpPr>
          <p:spPr>
            <a:xfrm flipH="false" flipV="false" rot="0">
              <a:off x="0" y="0"/>
              <a:ext cx="870080" cy="176993"/>
            </a:xfrm>
            <a:custGeom>
              <a:avLst/>
              <a:gdLst/>
              <a:ahLst/>
              <a:cxnLst/>
              <a:rect r="r" b="b" t="t" l="l"/>
              <a:pathLst>
                <a:path h="176993" w="870080">
                  <a:moveTo>
                    <a:pt x="51557" y="0"/>
                  </a:moveTo>
                  <a:lnTo>
                    <a:pt x="818523" y="0"/>
                  </a:lnTo>
                  <a:cubicBezTo>
                    <a:pt x="832197" y="0"/>
                    <a:pt x="845310" y="5432"/>
                    <a:pt x="854979" y="15101"/>
                  </a:cubicBezTo>
                  <a:cubicBezTo>
                    <a:pt x="864648" y="24769"/>
                    <a:pt x="870080" y="37883"/>
                    <a:pt x="870080" y="51557"/>
                  </a:cubicBezTo>
                  <a:lnTo>
                    <a:pt x="870080" y="125437"/>
                  </a:lnTo>
                  <a:cubicBezTo>
                    <a:pt x="870080" y="139110"/>
                    <a:pt x="864648" y="152224"/>
                    <a:pt x="854979" y="161893"/>
                  </a:cubicBezTo>
                  <a:cubicBezTo>
                    <a:pt x="845310" y="171562"/>
                    <a:pt x="832197" y="176993"/>
                    <a:pt x="818523" y="176993"/>
                  </a:cubicBezTo>
                  <a:lnTo>
                    <a:pt x="51557" y="176993"/>
                  </a:lnTo>
                  <a:cubicBezTo>
                    <a:pt x="37883" y="176993"/>
                    <a:pt x="24769" y="171562"/>
                    <a:pt x="15101" y="161893"/>
                  </a:cubicBezTo>
                  <a:cubicBezTo>
                    <a:pt x="5432" y="152224"/>
                    <a:pt x="0" y="139110"/>
                    <a:pt x="0" y="125437"/>
                  </a:cubicBezTo>
                  <a:lnTo>
                    <a:pt x="0" y="51557"/>
                  </a:lnTo>
                  <a:cubicBezTo>
                    <a:pt x="0" y="37883"/>
                    <a:pt x="5432" y="24769"/>
                    <a:pt x="15101" y="15101"/>
                  </a:cubicBezTo>
                  <a:cubicBezTo>
                    <a:pt x="24769" y="5432"/>
                    <a:pt x="37883" y="0"/>
                    <a:pt x="51557" y="0"/>
                  </a:cubicBezTo>
                  <a:close/>
                </a:path>
              </a:pathLst>
            </a:custGeom>
            <a:solidFill>
              <a:srgbClr val="000000"/>
            </a:solidFill>
          </p:spPr>
        </p:sp>
        <p:sp>
          <p:nvSpPr>
            <p:cNvPr name="TextBox 4" id="4"/>
            <p:cNvSpPr txBox="true"/>
            <p:nvPr/>
          </p:nvSpPr>
          <p:spPr>
            <a:xfrm>
              <a:off x="0" y="85725"/>
              <a:ext cx="870080" cy="91268"/>
            </a:xfrm>
            <a:prstGeom prst="rect">
              <a:avLst/>
            </a:prstGeom>
          </p:spPr>
          <p:txBody>
            <a:bodyPr anchor="ctr" rtlCol="false" tIns="50800" lIns="50800" bIns="50800" rIns="50800"/>
            <a:lstStyle/>
            <a:p>
              <a:pPr algn="ctr">
                <a:lnSpc>
                  <a:spcPts val="1620"/>
                </a:lnSpc>
              </a:pPr>
              <a:r>
                <a:rPr lang="en-US" sz="2189">
                  <a:solidFill>
                    <a:srgbClr val="FFFFFF"/>
                  </a:solidFill>
                  <a:latin typeface="Saira"/>
                  <a:ea typeface="Saira"/>
                  <a:cs typeface="Saira"/>
                  <a:sym typeface="Saira"/>
                </a:rPr>
                <a:t>Page 2</a:t>
              </a:r>
            </a:p>
          </p:txBody>
        </p:sp>
      </p:grpSp>
      <p:sp>
        <p:nvSpPr>
          <p:cNvPr name="AutoShape 5" id="5"/>
          <p:cNvSpPr/>
          <p:nvPr/>
        </p:nvSpPr>
        <p:spPr>
          <a:xfrm flipV="true">
            <a:off x="-300610" y="1864791"/>
            <a:ext cx="18588610" cy="0"/>
          </a:xfrm>
          <a:prstGeom prst="line">
            <a:avLst/>
          </a:prstGeom>
          <a:ln cap="flat" w="38100">
            <a:solidFill>
              <a:srgbClr val="000000"/>
            </a:solidFill>
            <a:prstDash val="solid"/>
            <a:headEnd type="none" len="sm" w="sm"/>
            <a:tailEnd type="none" len="sm" w="sm"/>
          </a:ln>
        </p:spPr>
      </p:sp>
      <p:sp>
        <p:nvSpPr>
          <p:cNvPr name="AutoShape 6" id="6"/>
          <p:cNvSpPr/>
          <p:nvPr/>
        </p:nvSpPr>
        <p:spPr>
          <a:xfrm>
            <a:off x="0" y="5360984"/>
            <a:ext cx="18719040" cy="0"/>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332750" y="5561009"/>
            <a:ext cx="3099748" cy="4389023"/>
          </a:xfrm>
          <a:custGeom>
            <a:avLst/>
            <a:gdLst/>
            <a:ahLst/>
            <a:cxnLst/>
            <a:rect r="r" b="b" t="t" l="l"/>
            <a:pathLst>
              <a:path h="4389023" w="3099748">
                <a:moveTo>
                  <a:pt x="0" y="0"/>
                </a:moveTo>
                <a:lnTo>
                  <a:pt x="3099747" y="0"/>
                </a:lnTo>
                <a:lnTo>
                  <a:pt x="3099747" y="4389024"/>
                </a:lnTo>
                <a:lnTo>
                  <a:pt x="0" y="4389024"/>
                </a:lnTo>
                <a:lnTo>
                  <a:pt x="0" y="0"/>
                </a:lnTo>
                <a:close/>
              </a:path>
            </a:pathLst>
          </a:custGeom>
          <a:blipFill>
            <a:blip r:embed="rId2"/>
            <a:stretch>
              <a:fillRect l="0" t="0" r="0" b="0"/>
            </a:stretch>
          </a:blipFill>
        </p:spPr>
      </p:sp>
      <p:sp>
        <p:nvSpPr>
          <p:cNvPr name="Freeform 8" id="8"/>
          <p:cNvSpPr/>
          <p:nvPr/>
        </p:nvSpPr>
        <p:spPr>
          <a:xfrm flipH="false" flipV="false" rot="0">
            <a:off x="3991158" y="5561009"/>
            <a:ext cx="4511457" cy="2966283"/>
          </a:xfrm>
          <a:custGeom>
            <a:avLst/>
            <a:gdLst/>
            <a:ahLst/>
            <a:cxnLst/>
            <a:rect r="r" b="b" t="t" l="l"/>
            <a:pathLst>
              <a:path h="2966283" w="4511457">
                <a:moveTo>
                  <a:pt x="0" y="0"/>
                </a:moveTo>
                <a:lnTo>
                  <a:pt x="4511458" y="0"/>
                </a:lnTo>
                <a:lnTo>
                  <a:pt x="4511458" y="2966284"/>
                </a:lnTo>
                <a:lnTo>
                  <a:pt x="0" y="2966284"/>
                </a:lnTo>
                <a:lnTo>
                  <a:pt x="0" y="0"/>
                </a:lnTo>
                <a:close/>
              </a:path>
            </a:pathLst>
          </a:custGeom>
          <a:blipFill>
            <a:blip r:embed="rId3"/>
            <a:stretch>
              <a:fillRect l="0" t="0" r="0" b="0"/>
            </a:stretch>
          </a:blipFill>
        </p:spPr>
      </p:sp>
      <p:sp>
        <p:nvSpPr>
          <p:cNvPr name="Freeform 9" id="9"/>
          <p:cNvSpPr/>
          <p:nvPr/>
        </p:nvSpPr>
        <p:spPr>
          <a:xfrm flipH="false" flipV="false" rot="-5400000">
            <a:off x="9898903" y="4787247"/>
            <a:ext cx="2985142" cy="4494949"/>
          </a:xfrm>
          <a:custGeom>
            <a:avLst/>
            <a:gdLst/>
            <a:ahLst/>
            <a:cxnLst/>
            <a:rect r="r" b="b" t="t" l="l"/>
            <a:pathLst>
              <a:path h="4494949" w="2985142">
                <a:moveTo>
                  <a:pt x="0" y="0"/>
                </a:moveTo>
                <a:lnTo>
                  <a:pt x="2985143" y="0"/>
                </a:lnTo>
                <a:lnTo>
                  <a:pt x="2985143" y="4494949"/>
                </a:lnTo>
                <a:lnTo>
                  <a:pt x="0" y="4494949"/>
                </a:lnTo>
                <a:lnTo>
                  <a:pt x="0" y="0"/>
                </a:lnTo>
                <a:close/>
              </a:path>
            </a:pathLst>
          </a:custGeom>
          <a:blipFill>
            <a:blip r:embed="rId4"/>
            <a:stretch>
              <a:fillRect l="0" t="0" r="0" b="0"/>
            </a:stretch>
          </a:blipFill>
        </p:spPr>
      </p:sp>
      <p:sp>
        <p:nvSpPr>
          <p:cNvPr name="Freeform 10" id="10"/>
          <p:cNvSpPr/>
          <p:nvPr/>
        </p:nvSpPr>
        <p:spPr>
          <a:xfrm flipH="false" flipV="false" rot="0">
            <a:off x="14734324" y="5768988"/>
            <a:ext cx="2902650" cy="4309996"/>
          </a:xfrm>
          <a:custGeom>
            <a:avLst/>
            <a:gdLst/>
            <a:ahLst/>
            <a:cxnLst/>
            <a:rect r="r" b="b" t="t" l="l"/>
            <a:pathLst>
              <a:path h="4309996" w="2902650">
                <a:moveTo>
                  <a:pt x="0" y="0"/>
                </a:moveTo>
                <a:lnTo>
                  <a:pt x="2902650" y="0"/>
                </a:lnTo>
                <a:lnTo>
                  <a:pt x="2902650" y="4309996"/>
                </a:lnTo>
                <a:lnTo>
                  <a:pt x="0" y="4309996"/>
                </a:lnTo>
                <a:lnTo>
                  <a:pt x="0" y="0"/>
                </a:lnTo>
                <a:close/>
              </a:path>
            </a:pathLst>
          </a:custGeom>
          <a:blipFill>
            <a:blip r:embed="rId5"/>
            <a:stretch>
              <a:fillRect l="0" t="0" r="0" b="0"/>
            </a:stretch>
          </a:blipFill>
        </p:spPr>
      </p:sp>
      <p:sp>
        <p:nvSpPr>
          <p:cNvPr name="TextBox 11" id="11"/>
          <p:cNvSpPr txBox="true"/>
          <p:nvPr/>
        </p:nvSpPr>
        <p:spPr>
          <a:xfrm rot="0">
            <a:off x="1028700" y="234675"/>
            <a:ext cx="6707861" cy="1426125"/>
          </a:xfrm>
          <a:prstGeom prst="rect">
            <a:avLst/>
          </a:prstGeom>
        </p:spPr>
        <p:txBody>
          <a:bodyPr anchor="t" rtlCol="false" tIns="0" lIns="0" bIns="0" rIns="0">
            <a:spAutoFit/>
          </a:bodyPr>
          <a:lstStyle/>
          <a:p>
            <a:pPr algn="ctr">
              <a:lnSpc>
                <a:spcPts val="11694"/>
              </a:lnSpc>
              <a:spcBef>
                <a:spcPct val="0"/>
              </a:spcBef>
            </a:pPr>
            <a:r>
              <a:rPr lang="en-US" sz="8353">
                <a:solidFill>
                  <a:srgbClr val="000000"/>
                </a:solidFill>
                <a:latin typeface="Gagalin"/>
                <a:ea typeface="Gagalin"/>
                <a:cs typeface="Gagalin"/>
                <a:sym typeface="Gagalin"/>
              </a:rPr>
              <a:t>Achievements</a:t>
            </a:r>
          </a:p>
        </p:txBody>
      </p:sp>
      <p:sp>
        <p:nvSpPr>
          <p:cNvPr name="TextBox 12" id="12"/>
          <p:cNvSpPr txBox="true"/>
          <p:nvPr/>
        </p:nvSpPr>
        <p:spPr>
          <a:xfrm rot="0">
            <a:off x="1028700" y="1988616"/>
            <a:ext cx="5924917" cy="2253830"/>
          </a:xfrm>
          <a:prstGeom prst="rect">
            <a:avLst/>
          </a:prstGeom>
        </p:spPr>
        <p:txBody>
          <a:bodyPr anchor="t" rtlCol="false" tIns="0" lIns="0" bIns="0" rIns="0">
            <a:spAutoFit/>
          </a:bodyPr>
          <a:lstStyle/>
          <a:p>
            <a:pPr algn="l">
              <a:lnSpc>
                <a:spcPts val="4923"/>
              </a:lnSpc>
            </a:pPr>
            <a:r>
              <a:rPr lang="en-US" sz="3516">
                <a:solidFill>
                  <a:srgbClr val="000000"/>
                </a:solidFill>
                <a:latin typeface="Gagalin"/>
                <a:ea typeface="Gagalin"/>
                <a:cs typeface="Gagalin"/>
                <a:sym typeface="Gagalin"/>
              </a:rPr>
              <a:t>Language certificates: </a:t>
            </a:r>
          </a:p>
          <a:p>
            <a:pPr algn="l" marL="629687" indent="-314844" lvl="1">
              <a:lnSpc>
                <a:spcPts val="4083"/>
              </a:lnSpc>
              <a:buAutoNum type="arabicPeriod" startAt="1"/>
            </a:pPr>
            <a:r>
              <a:rPr lang="en-US" sz="2916">
                <a:solidFill>
                  <a:srgbClr val="000000"/>
                </a:solidFill>
                <a:latin typeface="Gagalin"/>
                <a:ea typeface="Gagalin"/>
                <a:cs typeface="Gagalin"/>
                <a:sym typeface="Gagalin"/>
              </a:rPr>
              <a:t>IELTS 5.5</a:t>
            </a:r>
          </a:p>
          <a:p>
            <a:pPr algn="l" marL="629687" indent="-314844" lvl="1">
              <a:lnSpc>
                <a:spcPts val="4083"/>
              </a:lnSpc>
              <a:buAutoNum type="arabicPeriod" startAt="1"/>
            </a:pPr>
            <a:r>
              <a:rPr lang="en-US" sz="2916">
                <a:solidFill>
                  <a:srgbClr val="000000"/>
                </a:solidFill>
                <a:latin typeface="Gagalin"/>
                <a:ea typeface="Gagalin"/>
                <a:cs typeface="Gagalin"/>
                <a:sym typeface="Gagalin"/>
              </a:rPr>
              <a:t>CEFR B2</a:t>
            </a:r>
          </a:p>
          <a:p>
            <a:pPr algn="ctr">
              <a:lnSpc>
                <a:spcPts val="4923"/>
              </a:lnSpc>
              <a:spcBef>
                <a:spcPct val="0"/>
              </a:spcBef>
            </a:pPr>
          </a:p>
        </p:txBody>
      </p:sp>
      <p:sp>
        <p:nvSpPr>
          <p:cNvPr name="TextBox 13" id="13"/>
          <p:cNvSpPr txBox="true"/>
          <p:nvPr/>
        </p:nvSpPr>
        <p:spPr>
          <a:xfrm rot="0">
            <a:off x="5766171" y="1979091"/>
            <a:ext cx="4542006" cy="1715643"/>
          </a:xfrm>
          <a:prstGeom prst="rect">
            <a:avLst/>
          </a:prstGeom>
        </p:spPr>
        <p:txBody>
          <a:bodyPr anchor="t" rtlCol="false" tIns="0" lIns="0" bIns="0" rIns="0">
            <a:spAutoFit/>
          </a:bodyPr>
          <a:lstStyle/>
          <a:p>
            <a:pPr algn="ctr">
              <a:lnSpc>
                <a:spcPts val="5011"/>
              </a:lnSpc>
            </a:pPr>
            <a:r>
              <a:rPr lang="en-US" sz="3579">
                <a:solidFill>
                  <a:srgbClr val="000000"/>
                </a:solidFill>
                <a:latin typeface="Gagalin"/>
                <a:ea typeface="Gagalin"/>
                <a:cs typeface="Gagalin"/>
                <a:sym typeface="Gagalin"/>
              </a:rPr>
              <a:t>Theatre:</a:t>
            </a:r>
          </a:p>
          <a:p>
            <a:pPr algn="l" marL="664973" indent="-332486" lvl="1">
              <a:lnSpc>
                <a:spcPts val="4312"/>
              </a:lnSpc>
              <a:spcBef>
                <a:spcPct val="0"/>
              </a:spcBef>
              <a:buAutoNum type="arabicPeriod" startAt="1"/>
            </a:pPr>
            <a:r>
              <a:rPr lang="en-US" sz="3080">
                <a:solidFill>
                  <a:srgbClr val="000000"/>
                </a:solidFill>
                <a:latin typeface="Gagalin"/>
                <a:ea typeface="Gagalin"/>
                <a:cs typeface="Gagalin"/>
                <a:sym typeface="Gagalin"/>
              </a:rPr>
              <a:t>Second place-“Teatr ibratxonadir” event</a:t>
            </a:r>
          </a:p>
        </p:txBody>
      </p:sp>
      <p:sp>
        <p:nvSpPr>
          <p:cNvPr name="TextBox 14" id="14"/>
          <p:cNvSpPr txBox="true"/>
          <p:nvPr/>
        </p:nvSpPr>
        <p:spPr>
          <a:xfrm rot="0">
            <a:off x="11552213" y="1988616"/>
            <a:ext cx="6735787" cy="3128365"/>
          </a:xfrm>
          <a:prstGeom prst="rect">
            <a:avLst/>
          </a:prstGeom>
        </p:spPr>
        <p:txBody>
          <a:bodyPr anchor="t" rtlCol="false" tIns="0" lIns="0" bIns="0" rIns="0">
            <a:spAutoFit/>
          </a:bodyPr>
          <a:lstStyle/>
          <a:p>
            <a:pPr algn="ctr">
              <a:lnSpc>
                <a:spcPts val="5020"/>
              </a:lnSpc>
            </a:pPr>
            <a:r>
              <a:rPr lang="en-US" sz="3586">
                <a:solidFill>
                  <a:srgbClr val="000000"/>
                </a:solidFill>
                <a:latin typeface="Gagalin"/>
                <a:ea typeface="Gagalin"/>
                <a:cs typeface="Gagalin"/>
                <a:sym typeface="Gagalin"/>
              </a:rPr>
              <a:t>arithmetic</a:t>
            </a:r>
          </a:p>
          <a:p>
            <a:pPr algn="l" marL="774218" indent="-387109" lvl="1">
              <a:lnSpc>
                <a:spcPts val="5020"/>
              </a:lnSpc>
              <a:buAutoNum type="arabicPeriod" startAt="1"/>
            </a:pPr>
            <a:r>
              <a:rPr lang="en-US" sz="3586">
                <a:solidFill>
                  <a:srgbClr val="000000"/>
                </a:solidFill>
                <a:latin typeface="Gagalin"/>
                <a:ea typeface="Gagalin"/>
                <a:cs typeface="Gagalin"/>
                <a:sym typeface="Gagalin"/>
              </a:rPr>
              <a:t>Second place-”grand intellect” competition</a:t>
            </a:r>
          </a:p>
          <a:p>
            <a:pPr algn="l" marL="774218" indent="-387109" lvl="1">
              <a:lnSpc>
                <a:spcPts val="5020"/>
              </a:lnSpc>
              <a:buAutoNum type="arabicPeriod" startAt="1"/>
            </a:pPr>
            <a:r>
              <a:rPr lang="en-US" sz="3586">
                <a:solidFill>
                  <a:srgbClr val="000000"/>
                </a:solidFill>
                <a:latin typeface="Gagalin"/>
                <a:ea typeface="Gagalin"/>
                <a:cs typeface="Gagalin"/>
                <a:sym typeface="Gagalin"/>
              </a:rPr>
              <a:t>“International mental arithmetic olimpiad”</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CDDD4"/>
        </a:solidFill>
      </p:bgPr>
    </p:bg>
    <p:spTree>
      <p:nvGrpSpPr>
        <p:cNvPr id="1" name=""/>
        <p:cNvGrpSpPr/>
        <p:nvPr/>
      </p:nvGrpSpPr>
      <p:grpSpPr>
        <a:xfrm>
          <a:off x="0" y="0"/>
          <a:ext cx="0" cy="0"/>
          <a:chOff x="0" y="0"/>
          <a:chExt cx="0" cy="0"/>
        </a:xfrm>
      </p:grpSpPr>
      <p:grpSp>
        <p:nvGrpSpPr>
          <p:cNvPr name="Group 2" id="2"/>
          <p:cNvGrpSpPr/>
          <p:nvPr/>
        </p:nvGrpSpPr>
        <p:grpSpPr>
          <a:xfrm rot="0">
            <a:off x="15190573" y="0"/>
            <a:ext cx="3110490" cy="633626"/>
            <a:chOff x="0" y="0"/>
            <a:chExt cx="819224" cy="166881"/>
          </a:xfrm>
        </p:grpSpPr>
        <p:sp>
          <p:nvSpPr>
            <p:cNvPr name="Freeform 3" id="3"/>
            <p:cNvSpPr/>
            <p:nvPr/>
          </p:nvSpPr>
          <p:spPr>
            <a:xfrm flipH="false" flipV="false" rot="0">
              <a:off x="0" y="0"/>
              <a:ext cx="819224" cy="166881"/>
            </a:xfrm>
            <a:custGeom>
              <a:avLst/>
              <a:gdLst/>
              <a:ahLst/>
              <a:cxnLst/>
              <a:rect r="r" b="b" t="t" l="l"/>
              <a:pathLst>
                <a:path h="166881" w="819224">
                  <a:moveTo>
                    <a:pt x="37335" y="0"/>
                  </a:moveTo>
                  <a:lnTo>
                    <a:pt x="781889" y="0"/>
                  </a:lnTo>
                  <a:cubicBezTo>
                    <a:pt x="791791" y="0"/>
                    <a:pt x="801287" y="3933"/>
                    <a:pt x="808289" y="10935"/>
                  </a:cubicBezTo>
                  <a:cubicBezTo>
                    <a:pt x="815290" y="17937"/>
                    <a:pt x="819224" y="27433"/>
                    <a:pt x="819224" y="37335"/>
                  </a:cubicBezTo>
                  <a:lnTo>
                    <a:pt x="819224" y="129546"/>
                  </a:lnTo>
                  <a:cubicBezTo>
                    <a:pt x="819224" y="139448"/>
                    <a:pt x="815290" y="148944"/>
                    <a:pt x="808289" y="155946"/>
                  </a:cubicBezTo>
                  <a:cubicBezTo>
                    <a:pt x="801287" y="162948"/>
                    <a:pt x="791791" y="166881"/>
                    <a:pt x="781889" y="166881"/>
                  </a:cubicBezTo>
                  <a:lnTo>
                    <a:pt x="37335" y="166881"/>
                  </a:lnTo>
                  <a:cubicBezTo>
                    <a:pt x="16715" y="166881"/>
                    <a:pt x="0" y="150166"/>
                    <a:pt x="0" y="129546"/>
                  </a:cubicBezTo>
                  <a:lnTo>
                    <a:pt x="0" y="37335"/>
                  </a:lnTo>
                  <a:cubicBezTo>
                    <a:pt x="0" y="27433"/>
                    <a:pt x="3933" y="17937"/>
                    <a:pt x="10935" y="10935"/>
                  </a:cubicBezTo>
                  <a:cubicBezTo>
                    <a:pt x="17937" y="3933"/>
                    <a:pt x="27433" y="0"/>
                    <a:pt x="37335" y="0"/>
                  </a:cubicBezTo>
                  <a:close/>
                </a:path>
              </a:pathLst>
            </a:custGeom>
            <a:solidFill>
              <a:srgbClr val="442D26"/>
            </a:solidFill>
          </p:spPr>
        </p:sp>
        <p:sp>
          <p:nvSpPr>
            <p:cNvPr name="TextBox 4" id="4"/>
            <p:cNvSpPr txBox="true"/>
            <p:nvPr/>
          </p:nvSpPr>
          <p:spPr>
            <a:xfrm>
              <a:off x="0" y="85725"/>
              <a:ext cx="819224" cy="81156"/>
            </a:xfrm>
            <a:prstGeom prst="rect">
              <a:avLst/>
            </a:prstGeom>
          </p:spPr>
          <p:txBody>
            <a:bodyPr anchor="ctr" rtlCol="false" tIns="50800" lIns="50800" bIns="50800" rIns="50800"/>
            <a:lstStyle/>
            <a:p>
              <a:pPr algn="ctr">
                <a:lnSpc>
                  <a:spcPts val="1620"/>
                </a:lnSpc>
              </a:pPr>
              <a:r>
                <a:rPr lang="en-US" sz="2189">
                  <a:solidFill>
                    <a:srgbClr val="FFFFFF"/>
                  </a:solidFill>
                  <a:latin typeface="Saira"/>
                  <a:ea typeface="Saira"/>
                  <a:cs typeface="Saira"/>
                  <a:sym typeface="Saira"/>
                </a:rPr>
                <a:t>Page 4</a:t>
              </a:r>
            </a:p>
          </p:txBody>
        </p:sp>
      </p:grpSp>
      <p:grpSp>
        <p:nvGrpSpPr>
          <p:cNvPr name="Group 5" id="5"/>
          <p:cNvGrpSpPr/>
          <p:nvPr/>
        </p:nvGrpSpPr>
        <p:grpSpPr>
          <a:xfrm rot="0">
            <a:off x="-657668" y="-443442"/>
            <a:ext cx="7583764" cy="11173884"/>
            <a:chOff x="0" y="0"/>
            <a:chExt cx="1997370" cy="2942916"/>
          </a:xfrm>
        </p:grpSpPr>
        <p:sp>
          <p:nvSpPr>
            <p:cNvPr name="Freeform 6" id="6"/>
            <p:cNvSpPr/>
            <p:nvPr/>
          </p:nvSpPr>
          <p:spPr>
            <a:xfrm flipH="false" flipV="false" rot="0">
              <a:off x="0" y="0"/>
              <a:ext cx="1997370" cy="2942916"/>
            </a:xfrm>
            <a:custGeom>
              <a:avLst/>
              <a:gdLst/>
              <a:ahLst/>
              <a:cxnLst/>
              <a:rect r="r" b="b" t="t" l="l"/>
              <a:pathLst>
                <a:path h="2942916" w="1997370">
                  <a:moveTo>
                    <a:pt x="15313" y="0"/>
                  </a:moveTo>
                  <a:lnTo>
                    <a:pt x="1982057" y="0"/>
                  </a:lnTo>
                  <a:cubicBezTo>
                    <a:pt x="1986118" y="0"/>
                    <a:pt x="1990013" y="1613"/>
                    <a:pt x="1992885" y="4485"/>
                  </a:cubicBezTo>
                  <a:cubicBezTo>
                    <a:pt x="1995757" y="7357"/>
                    <a:pt x="1997370" y="11252"/>
                    <a:pt x="1997370" y="15313"/>
                  </a:cubicBezTo>
                  <a:lnTo>
                    <a:pt x="1997370" y="2927603"/>
                  </a:lnTo>
                  <a:cubicBezTo>
                    <a:pt x="1997370" y="2931664"/>
                    <a:pt x="1995757" y="2935559"/>
                    <a:pt x="1992885" y="2938431"/>
                  </a:cubicBezTo>
                  <a:cubicBezTo>
                    <a:pt x="1990013" y="2941303"/>
                    <a:pt x="1986118" y="2942916"/>
                    <a:pt x="1982057" y="2942916"/>
                  </a:cubicBezTo>
                  <a:lnTo>
                    <a:pt x="15313" y="2942916"/>
                  </a:lnTo>
                  <a:cubicBezTo>
                    <a:pt x="11252" y="2942916"/>
                    <a:pt x="7357" y="2941303"/>
                    <a:pt x="4485" y="2938431"/>
                  </a:cubicBezTo>
                  <a:cubicBezTo>
                    <a:pt x="1613" y="2935559"/>
                    <a:pt x="0" y="2931664"/>
                    <a:pt x="0" y="2927603"/>
                  </a:cubicBezTo>
                  <a:lnTo>
                    <a:pt x="0" y="15313"/>
                  </a:lnTo>
                  <a:cubicBezTo>
                    <a:pt x="0" y="11252"/>
                    <a:pt x="1613" y="7357"/>
                    <a:pt x="4485" y="4485"/>
                  </a:cubicBezTo>
                  <a:cubicBezTo>
                    <a:pt x="7357" y="1613"/>
                    <a:pt x="11252" y="0"/>
                    <a:pt x="15313" y="0"/>
                  </a:cubicBezTo>
                  <a:close/>
                </a:path>
              </a:pathLst>
            </a:custGeom>
            <a:solidFill>
              <a:srgbClr val="442D26"/>
            </a:solidFill>
          </p:spPr>
        </p:sp>
        <p:sp>
          <p:nvSpPr>
            <p:cNvPr name="TextBox 7" id="7"/>
            <p:cNvSpPr txBox="true"/>
            <p:nvPr/>
          </p:nvSpPr>
          <p:spPr>
            <a:xfrm>
              <a:off x="0" y="85725"/>
              <a:ext cx="1997370" cy="2857191"/>
            </a:xfrm>
            <a:prstGeom prst="rect">
              <a:avLst/>
            </a:prstGeom>
          </p:spPr>
          <p:txBody>
            <a:bodyPr anchor="ctr" rtlCol="false" tIns="50800" lIns="50800" bIns="50800" rIns="50800"/>
            <a:lstStyle/>
            <a:p>
              <a:pPr algn="ctr">
                <a:lnSpc>
                  <a:spcPts val="1620"/>
                </a:lnSpc>
              </a:pPr>
            </a:p>
          </p:txBody>
        </p:sp>
      </p:grpSp>
      <p:sp>
        <p:nvSpPr>
          <p:cNvPr name="TextBox 8" id="8"/>
          <p:cNvSpPr txBox="true"/>
          <p:nvPr/>
        </p:nvSpPr>
        <p:spPr>
          <a:xfrm rot="0">
            <a:off x="1028700" y="4660385"/>
            <a:ext cx="4808910" cy="1377672"/>
          </a:xfrm>
          <a:prstGeom prst="rect">
            <a:avLst/>
          </a:prstGeom>
        </p:spPr>
        <p:txBody>
          <a:bodyPr anchor="t" rtlCol="false" tIns="0" lIns="0" bIns="0" rIns="0">
            <a:spAutoFit/>
          </a:bodyPr>
          <a:lstStyle/>
          <a:p>
            <a:pPr algn="l">
              <a:lnSpc>
                <a:spcPts val="10368"/>
              </a:lnSpc>
            </a:pPr>
            <a:r>
              <a:rPr lang="en-US" sz="10368" b="true">
                <a:solidFill>
                  <a:srgbClr val="ECDDD4"/>
                </a:solidFill>
                <a:latin typeface="Saira Heavy"/>
                <a:ea typeface="Saira Heavy"/>
                <a:cs typeface="Saira Heavy"/>
                <a:sym typeface="Saira Heavy"/>
              </a:rPr>
              <a:t>SKILLS</a:t>
            </a:r>
          </a:p>
        </p:txBody>
      </p:sp>
      <p:sp>
        <p:nvSpPr>
          <p:cNvPr name="TextBox 9" id="9"/>
          <p:cNvSpPr txBox="true"/>
          <p:nvPr/>
        </p:nvSpPr>
        <p:spPr>
          <a:xfrm rot="0">
            <a:off x="9785659" y="2804325"/>
            <a:ext cx="7729836" cy="7482675"/>
          </a:xfrm>
          <a:prstGeom prst="rect">
            <a:avLst/>
          </a:prstGeom>
        </p:spPr>
        <p:txBody>
          <a:bodyPr anchor="t" rtlCol="false" tIns="0" lIns="0" bIns="0" rIns="0">
            <a:spAutoFit/>
          </a:bodyPr>
          <a:lstStyle/>
          <a:p>
            <a:pPr algn="l" marL="576242" indent="-288121" lvl="1">
              <a:lnSpc>
                <a:spcPts val="6672"/>
              </a:lnSpc>
              <a:buAutoNum type="arabicPeriod" startAt="1"/>
            </a:pPr>
            <a:r>
              <a:rPr lang="en-US" sz="2669">
                <a:solidFill>
                  <a:srgbClr val="442D26"/>
                </a:solidFill>
                <a:latin typeface="Saira"/>
                <a:ea typeface="Saira"/>
                <a:cs typeface="Saira"/>
                <a:sym typeface="Saira"/>
              </a:rPr>
              <a:t>Basic Programming &amp; IT Skills</a:t>
            </a:r>
          </a:p>
          <a:p>
            <a:pPr algn="l" marL="576242" indent="-288121" lvl="1">
              <a:lnSpc>
                <a:spcPts val="6672"/>
              </a:lnSpc>
              <a:buAutoNum type="arabicPeriod" startAt="1"/>
            </a:pPr>
            <a:r>
              <a:rPr lang="en-US" sz="2669">
                <a:solidFill>
                  <a:srgbClr val="442D26"/>
                </a:solidFill>
                <a:latin typeface="Saira"/>
                <a:ea typeface="Saira"/>
                <a:cs typeface="Saira"/>
                <a:sym typeface="Saira"/>
              </a:rPr>
              <a:t>Problem Solving &amp; Logical Thinking</a:t>
            </a:r>
          </a:p>
          <a:p>
            <a:pPr algn="l" marL="576242" indent="-288121" lvl="1">
              <a:lnSpc>
                <a:spcPts val="6672"/>
              </a:lnSpc>
              <a:buAutoNum type="arabicPeriod" startAt="1"/>
            </a:pPr>
            <a:r>
              <a:rPr lang="en-US" sz="2669">
                <a:solidFill>
                  <a:srgbClr val="442D26"/>
                </a:solidFill>
                <a:latin typeface="Saira"/>
                <a:ea typeface="Saira"/>
                <a:cs typeface="Saira"/>
                <a:sym typeface="Saira"/>
              </a:rPr>
              <a:t>Business &amp; Strategic Thinking</a:t>
            </a:r>
          </a:p>
          <a:p>
            <a:pPr algn="l" marL="576242" indent="-288121" lvl="1">
              <a:lnSpc>
                <a:spcPts val="6672"/>
              </a:lnSpc>
              <a:buAutoNum type="arabicPeriod" startAt="1"/>
            </a:pPr>
            <a:r>
              <a:rPr lang="en-US" sz="2669">
                <a:solidFill>
                  <a:srgbClr val="442D26"/>
                </a:solidFill>
                <a:latin typeface="Saira"/>
                <a:ea typeface="Saira"/>
                <a:cs typeface="Saira"/>
                <a:sym typeface="Saira"/>
              </a:rPr>
              <a:t>Communication &amp; Teamwork</a:t>
            </a:r>
          </a:p>
          <a:p>
            <a:pPr algn="l" marL="576242" indent="-288121" lvl="1">
              <a:lnSpc>
                <a:spcPts val="6672"/>
              </a:lnSpc>
              <a:buAutoNum type="arabicPeriod" startAt="1"/>
            </a:pPr>
            <a:r>
              <a:rPr lang="en-US" sz="2669">
                <a:solidFill>
                  <a:srgbClr val="442D26"/>
                </a:solidFill>
                <a:latin typeface="Saira"/>
                <a:ea typeface="Saira"/>
                <a:cs typeface="Saira"/>
                <a:sym typeface="Saira"/>
              </a:rPr>
              <a:t>Leadership &amp; Resp</a:t>
            </a:r>
            <a:r>
              <a:rPr lang="en-US" sz="2669">
                <a:solidFill>
                  <a:srgbClr val="442D26"/>
                </a:solidFill>
                <a:latin typeface="Saira"/>
                <a:ea typeface="Saira"/>
                <a:cs typeface="Saira"/>
                <a:sym typeface="Saira"/>
              </a:rPr>
              <a:t>onsibility</a:t>
            </a:r>
          </a:p>
          <a:p>
            <a:pPr algn="l" marL="576242" indent="-288121" lvl="1">
              <a:lnSpc>
                <a:spcPts val="6672"/>
              </a:lnSpc>
              <a:buAutoNum type="arabicPeriod" startAt="1"/>
            </a:pPr>
            <a:r>
              <a:rPr lang="en-US" sz="2669">
                <a:solidFill>
                  <a:srgbClr val="442D26"/>
                </a:solidFill>
                <a:latin typeface="Saira"/>
                <a:ea typeface="Saira"/>
                <a:cs typeface="Saira"/>
                <a:sym typeface="Saira"/>
              </a:rPr>
              <a:t>Time Management &amp; dicipline</a:t>
            </a:r>
          </a:p>
          <a:p>
            <a:pPr algn="l" marL="576242" indent="-288121" lvl="1">
              <a:lnSpc>
                <a:spcPts val="6672"/>
              </a:lnSpc>
              <a:buAutoNum type="arabicPeriod" startAt="1"/>
            </a:pPr>
            <a:r>
              <a:rPr lang="en-US" sz="2669">
                <a:solidFill>
                  <a:srgbClr val="442D26"/>
                </a:solidFill>
                <a:latin typeface="Saira"/>
                <a:ea typeface="Saira"/>
                <a:cs typeface="Saira"/>
                <a:sym typeface="Saira"/>
              </a:rPr>
              <a:t>Creativity &amp; Innovation</a:t>
            </a:r>
          </a:p>
          <a:p>
            <a:pPr algn="l" marL="576242" indent="-288121" lvl="1">
              <a:lnSpc>
                <a:spcPts val="6672"/>
              </a:lnSpc>
              <a:buAutoNum type="arabicPeriod" startAt="1"/>
            </a:pPr>
            <a:r>
              <a:rPr lang="en-US" sz="2669">
                <a:solidFill>
                  <a:srgbClr val="442D26"/>
                </a:solidFill>
                <a:latin typeface="Saira"/>
                <a:ea typeface="Saira"/>
                <a:cs typeface="Saira"/>
                <a:sym typeface="Saira"/>
              </a:rPr>
              <a:t>An</a:t>
            </a:r>
            <a:r>
              <a:rPr lang="en-US" sz="2669">
                <a:solidFill>
                  <a:srgbClr val="442D26"/>
                </a:solidFill>
                <a:latin typeface="Saira"/>
                <a:ea typeface="Saira"/>
                <a:cs typeface="Saira"/>
                <a:sym typeface="Saira"/>
              </a:rPr>
              <a:t>alytical Thinking</a:t>
            </a:r>
          </a:p>
          <a:p>
            <a:pPr algn="l">
              <a:lnSpc>
                <a:spcPts val="6672"/>
              </a:lnSpc>
            </a:pPr>
          </a:p>
        </p:txBody>
      </p:sp>
      <p:sp>
        <p:nvSpPr>
          <p:cNvPr name="TextBox 10" id="10"/>
          <p:cNvSpPr txBox="true"/>
          <p:nvPr/>
        </p:nvSpPr>
        <p:spPr>
          <a:xfrm rot="0">
            <a:off x="16232336" y="1266062"/>
            <a:ext cx="1026964" cy="242231"/>
          </a:xfrm>
          <a:prstGeom prst="rect">
            <a:avLst/>
          </a:prstGeom>
        </p:spPr>
        <p:txBody>
          <a:bodyPr anchor="t" rtlCol="false" tIns="0" lIns="0" bIns="0" rIns="0">
            <a:spAutoFit/>
          </a:bodyPr>
          <a:lstStyle/>
          <a:p>
            <a:pPr algn="r">
              <a:lnSpc>
                <a:spcPts val="1620"/>
              </a:lnSpc>
            </a:pPr>
            <a:r>
              <a:rPr lang="en-US" sz="2189">
                <a:solidFill>
                  <a:srgbClr val="ECDDD4"/>
                </a:solidFill>
                <a:latin typeface="Saira"/>
                <a:ea typeface="Saira"/>
                <a:cs typeface="Saira"/>
                <a:sym typeface="Saira"/>
              </a:rPr>
              <a:t>Page 4</a:t>
            </a:r>
          </a:p>
        </p:txBody>
      </p:sp>
      <p:grpSp>
        <p:nvGrpSpPr>
          <p:cNvPr name="Group 11" id="11"/>
          <p:cNvGrpSpPr/>
          <p:nvPr/>
        </p:nvGrpSpPr>
        <p:grpSpPr>
          <a:xfrm rot="0">
            <a:off x="1028700" y="214761"/>
            <a:ext cx="7284830" cy="2259071"/>
            <a:chOff x="0" y="0"/>
            <a:chExt cx="1918638" cy="594982"/>
          </a:xfrm>
        </p:grpSpPr>
        <p:sp>
          <p:nvSpPr>
            <p:cNvPr name="Freeform 12" id="12"/>
            <p:cNvSpPr/>
            <p:nvPr/>
          </p:nvSpPr>
          <p:spPr>
            <a:xfrm flipH="false" flipV="false" rot="0">
              <a:off x="0" y="0"/>
              <a:ext cx="1918638" cy="594982"/>
            </a:xfrm>
            <a:custGeom>
              <a:avLst/>
              <a:gdLst/>
              <a:ahLst/>
              <a:cxnLst/>
              <a:rect r="r" b="b" t="t" l="l"/>
              <a:pathLst>
                <a:path h="594982" w="1918638">
                  <a:moveTo>
                    <a:pt x="60576" y="0"/>
                  </a:moveTo>
                  <a:lnTo>
                    <a:pt x="1858062" y="0"/>
                  </a:lnTo>
                  <a:cubicBezTo>
                    <a:pt x="1874128" y="0"/>
                    <a:pt x="1889536" y="6382"/>
                    <a:pt x="1900896" y="17742"/>
                  </a:cubicBezTo>
                  <a:cubicBezTo>
                    <a:pt x="1912256" y="29103"/>
                    <a:pt x="1918638" y="44511"/>
                    <a:pt x="1918638" y="60576"/>
                  </a:cubicBezTo>
                  <a:lnTo>
                    <a:pt x="1918638" y="534405"/>
                  </a:lnTo>
                  <a:cubicBezTo>
                    <a:pt x="1918638" y="550471"/>
                    <a:pt x="1912256" y="565879"/>
                    <a:pt x="1900896" y="577239"/>
                  </a:cubicBezTo>
                  <a:cubicBezTo>
                    <a:pt x="1889536" y="588599"/>
                    <a:pt x="1874128" y="594982"/>
                    <a:pt x="1858062" y="594982"/>
                  </a:cubicBezTo>
                  <a:lnTo>
                    <a:pt x="60576" y="594982"/>
                  </a:lnTo>
                  <a:cubicBezTo>
                    <a:pt x="44511" y="594982"/>
                    <a:pt x="29103" y="588599"/>
                    <a:pt x="17742" y="577239"/>
                  </a:cubicBezTo>
                  <a:cubicBezTo>
                    <a:pt x="6382" y="565879"/>
                    <a:pt x="0" y="550471"/>
                    <a:pt x="0" y="534405"/>
                  </a:cubicBezTo>
                  <a:lnTo>
                    <a:pt x="0" y="60576"/>
                  </a:lnTo>
                  <a:cubicBezTo>
                    <a:pt x="0" y="44511"/>
                    <a:pt x="6382" y="29103"/>
                    <a:pt x="17742" y="17742"/>
                  </a:cubicBezTo>
                  <a:cubicBezTo>
                    <a:pt x="29103" y="6382"/>
                    <a:pt x="44511" y="0"/>
                    <a:pt x="60576" y="0"/>
                  </a:cubicBezTo>
                  <a:close/>
                </a:path>
              </a:pathLst>
            </a:custGeom>
            <a:ln w="9525" cap="rnd">
              <a:solidFill>
                <a:srgbClr val="ECDDD4"/>
              </a:solidFill>
              <a:prstDash val="solid"/>
              <a:round/>
            </a:ln>
          </p:spPr>
        </p:sp>
        <p:sp>
          <p:nvSpPr>
            <p:cNvPr name="TextBox 13" id="13"/>
            <p:cNvSpPr txBox="true"/>
            <p:nvPr/>
          </p:nvSpPr>
          <p:spPr>
            <a:xfrm>
              <a:off x="0" y="85725"/>
              <a:ext cx="1918638" cy="509257"/>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6189123" y="215978"/>
            <a:ext cx="8161995" cy="2259071"/>
            <a:chOff x="0" y="0"/>
            <a:chExt cx="2149661" cy="594982"/>
          </a:xfrm>
        </p:grpSpPr>
        <p:sp>
          <p:nvSpPr>
            <p:cNvPr name="Freeform 15" id="15"/>
            <p:cNvSpPr/>
            <p:nvPr/>
          </p:nvSpPr>
          <p:spPr>
            <a:xfrm flipH="false" flipV="false" rot="0">
              <a:off x="0" y="0"/>
              <a:ext cx="2149661" cy="594982"/>
            </a:xfrm>
            <a:custGeom>
              <a:avLst/>
              <a:gdLst/>
              <a:ahLst/>
              <a:cxnLst/>
              <a:rect r="r" b="b" t="t" l="l"/>
              <a:pathLst>
                <a:path h="594982" w="2149661">
                  <a:moveTo>
                    <a:pt x="54066" y="0"/>
                  </a:moveTo>
                  <a:lnTo>
                    <a:pt x="2095595" y="0"/>
                  </a:lnTo>
                  <a:cubicBezTo>
                    <a:pt x="2109934" y="0"/>
                    <a:pt x="2123686" y="5696"/>
                    <a:pt x="2133826" y="15836"/>
                  </a:cubicBezTo>
                  <a:cubicBezTo>
                    <a:pt x="2143965" y="25975"/>
                    <a:pt x="2149661" y="39727"/>
                    <a:pt x="2149661" y="54066"/>
                  </a:cubicBezTo>
                  <a:lnTo>
                    <a:pt x="2149661" y="540915"/>
                  </a:lnTo>
                  <a:cubicBezTo>
                    <a:pt x="2149661" y="570775"/>
                    <a:pt x="2125455" y="594982"/>
                    <a:pt x="2095595" y="594982"/>
                  </a:cubicBezTo>
                  <a:lnTo>
                    <a:pt x="54066" y="594982"/>
                  </a:lnTo>
                  <a:cubicBezTo>
                    <a:pt x="24206" y="594982"/>
                    <a:pt x="0" y="570775"/>
                    <a:pt x="0" y="540915"/>
                  </a:cubicBezTo>
                  <a:lnTo>
                    <a:pt x="0" y="54066"/>
                  </a:lnTo>
                  <a:cubicBezTo>
                    <a:pt x="0" y="24206"/>
                    <a:pt x="24206" y="0"/>
                    <a:pt x="54066" y="0"/>
                  </a:cubicBezTo>
                  <a:close/>
                </a:path>
              </a:pathLst>
            </a:custGeom>
            <a:ln w="9525" cap="rnd">
              <a:solidFill>
                <a:srgbClr val="442D26"/>
              </a:solidFill>
              <a:prstDash val="solid"/>
              <a:round/>
            </a:ln>
          </p:spPr>
        </p:sp>
        <p:sp>
          <p:nvSpPr>
            <p:cNvPr name="TextBox 16" id="16"/>
            <p:cNvSpPr txBox="true"/>
            <p:nvPr/>
          </p:nvSpPr>
          <p:spPr>
            <a:xfrm>
              <a:off x="0" y="85725"/>
              <a:ext cx="2149661" cy="509257"/>
            </a:xfrm>
            <a:prstGeom prst="rect">
              <a:avLst/>
            </a:prstGeom>
          </p:spPr>
          <p:txBody>
            <a:bodyPr anchor="ctr" rtlCol="false" tIns="50800" lIns="50800" bIns="50800" rIns="50800"/>
            <a:lstStyle/>
            <a:p>
              <a:pPr algn="ctr">
                <a:lnSpc>
                  <a:spcPts val="1620"/>
                </a:lnSpc>
              </a:pPr>
            </a:p>
          </p:txBody>
        </p:sp>
      </p:grpSp>
      <p:sp>
        <p:nvSpPr>
          <p:cNvPr name="AutoShape 17" id="17"/>
          <p:cNvSpPr/>
          <p:nvPr/>
        </p:nvSpPr>
        <p:spPr>
          <a:xfrm flipV="true">
            <a:off x="9139238" y="4460360"/>
            <a:ext cx="0" cy="4797940"/>
          </a:xfrm>
          <a:prstGeom prst="line">
            <a:avLst/>
          </a:prstGeom>
          <a:ln cap="flat" w="9525">
            <a:solidFill>
              <a:srgbClr val="442D26"/>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DDD4"/>
        </a:solidFill>
      </p:bgPr>
    </p:bg>
    <p:spTree>
      <p:nvGrpSpPr>
        <p:cNvPr id="1" name=""/>
        <p:cNvGrpSpPr/>
        <p:nvPr/>
      </p:nvGrpSpPr>
      <p:grpSpPr>
        <a:xfrm>
          <a:off x="0" y="0"/>
          <a:ext cx="0" cy="0"/>
          <a:chOff x="0" y="0"/>
          <a:chExt cx="0" cy="0"/>
        </a:xfrm>
      </p:grpSpPr>
      <p:grpSp>
        <p:nvGrpSpPr>
          <p:cNvPr name="Group 2" id="2"/>
          <p:cNvGrpSpPr/>
          <p:nvPr/>
        </p:nvGrpSpPr>
        <p:grpSpPr>
          <a:xfrm rot="0">
            <a:off x="15353500" y="0"/>
            <a:ext cx="3110490" cy="633626"/>
            <a:chOff x="0" y="0"/>
            <a:chExt cx="819224" cy="166881"/>
          </a:xfrm>
        </p:grpSpPr>
        <p:sp>
          <p:nvSpPr>
            <p:cNvPr name="Freeform 3" id="3"/>
            <p:cNvSpPr/>
            <p:nvPr/>
          </p:nvSpPr>
          <p:spPr>
            <a:xfrm flipH="false" flipV="false" rot="0">
              <a:off x="0" y="0"/>
              <a:ext cx="819224" cy="166881"/>
            </a:xfrm>
            <a:custGeom>
              <a:avLst/>
              <a:gdLst/>
              <a:ahLst/>
              <a:cxnLst/>
              <a:rect r="r" b="b" t="t" l="l"/>
              <a:pathLst>
                <a:path h="166881" w="819224">
                  <a:moveTo>
                    <a:pt x="37335" y="0"/>
                  </a:moveTo>
                  <a:lnTo>
                    <a:pt x="781889" y="0"/>
                  </a:lnTo>
                  <a:cubicBezTo>
                    <a:pt x="791791" y="0"/>
                    <a:pt x="801287" y="3933"/>
                    <a:pt x="808289" y="10935"/>
                  </a:cubicBezTo>
                  <a:cubicBezTo>
                    <a:pt x="815290" y="17937"/>
                    <a:pt x="819224" y="27433"/>
                    <a:pt x="819224" y="37335"/>
                  </a:cubicBezTo>
                  <a:lnTo>
                    <a:pt x="819224" y="129546"/>
                  </a:lnTo>
                  <a:cubicBezTo>
                    <a:pt x="819224" y="139448"/>
                    <a:pt x="815290" y="148944"/>
                    <a:pt x="808289" y="155946"/>
                  </a:cubicBezTo>
                  <a:cubicBezTo>
                    <a:pt x="801287" y="162948"/>
                    <a:pt x="791791" y="166881"/>
                    <a:pt x="781889" y="166881"/>
                  </a:cubicBezTo>
                  <a:lnTo>
                    <a:pt x="37335" y="166881"/>
                  </a:lnTo>
                  <a:cubicBezTo>
                    <a:pt x="16715" y="166881"/>
                    <a:pt x="0" y="150166"/>
                    <a:pt x="0" y="129546"/>
                  </a:cubicBezTo>
                  <a:lnTo>
                    <a:pt x="0" y="37335"/>
                  </a:lnTo>
                  <a:cubicBezTo>
                    <a:pt x="0" y="27433"/>
                    <a:pt x="3933" y="17937"/>
                    <a:pt x="10935" y="10935"/>
                  </a:cubicBezTo>
                  <a:cubicBezTo>
                    <a:pt x="17937" y="3933"/>
                    <a:pt x="27433" y="0"/>
                    <a:pt x="37335" y="0"/>
                  </a:cubicBezTo>
                  <a:close/>
                </a:path>
              </a:pathLst>
            </a:custGeom>
            <a:solidFill>
              <a:srgbClr val="442D26"/>
            </a:solidFill>
          </p:spPr>
        </p:sp>
        <p:sp>
          <p:nvSpPr>
            <p:cNvPr name="TextBox 4" id="4"/>
            <p:cNvSpPr txBox="true"/>
            <p:nvPr/>
          </p:nvSpPr>
          <p:spPr>
            <a:xfrm>
              <a:off x="0" y="85725"/>
              <a:ext cx="819224" cy="81156"/>
            </a:xfrm>
            <a:prstGeom prst="rect">
              <a:avLst/>
            </a:prstGeom>
          </p:spPr>
          <p:txBody>
            <a:bodyPr anchor="ctr" rtlCol="false" tIns="50800" lIns="50800" bIns="50800" rIns="50800"/>
            <a:lstStyle/>
            <a:p>
              <a:pPr algn="ctr">
                <a:lnSpc>
                  <a:spcPts val="1620"/>
                </a:lnSpc>
              </a:pPr>
              <a:r>
                <a:rPr lang="en-US" sz="2189">
                  <a:solidFill>
                    <a:srgbClr val="FFFFFF"/>
                  </a:solidFill>
                  <a:latin typeface="Saira"/>
                  <a:ea typeface="Saira"/>
                  <a:cs typeface="Saira"/>
                  <a:sym typeface="Saira"/>
                </a:rPr>
                <a:t>Page 5</a:t>
              </a:r>
            </a:p>
          </p:txBody>
        </p:sp>
      </p:grpSp>
      <p:sp>
        <p:nvSpPr>
          <p:cNvPr name="Freeform 5" id="5"/>
          <p:cNvSpPr/>
          <p:nvPr/>
        </p:nvSpPr>
        <p:spPr>
          <a:xfrm flipH="false" flipV="false" rot="0">
            <a:off x="1028700" y="4007190"/>
            <a:ext cx="4066610" cy="2885384"/>
          </a:xfrm>
          <a:custGeom>
            <a:avLst/>
            <a:gdLst/>
            <a:ahLst/>
            <a:cxnLst/>
            <a:rect r="r" b="b" t="t" l="l"/>
            <a:pathLst>
              <a:path h="2885384" w="4066610">
                <a:moveTo>
                  <a:pt x="0" y="0"/>
                </a:moveTo>
                <a:lnTo>
                  <a:pt x="4066610" y="0"/>
                </a:lnTo>
                <a:lnTo>
                  <a:pt x="4066610" y="2885383"/>
                </a:lnTo>
                <a:lnTo>
                  <a:pt x="0" y="2885383"/>
                </a:lnTo>
                <a:lnTo>
                  <a:pt x="0" y="0"/>
                </a:lnTo>
                <a:close/>
              </a:path>
            </a:pathLst>
          </a:custGeom>
          <a:blipFill>
            <a:blip r:embed="rId2"/>
            <a:stretch>
              <a:fillRect l="-3043" t="0" r="-3043" b="-5596"/>
            </a:stretch>
          </a:blipFill>
        </p:spPr>
      </p:sp>
      <p:sp>
        <p:nvSpPr>
          <p:cNvPr name="Freeform 6" id="6"/>
          <p:cNvSpPr/>
          <p:nvPr/>
        </p:nvSpPr>
        <p:spPr>
          <a:xfrm flipH="false" flipV="false" rot="0">
            <a:off x="9428444" y="6892573"/>
            <a:ext cx="3797506" cy="3005164"/>
          </a:xfrm>
          <a:custGeom>
            <a:avLst/>
            <a:gdLst/>
            <a:ahLst/>
            <a:cxnLst/>
            <a:rect r="r" b="b" t="t" l="l"/>
            <a:pathLst>
              <a:path h="3005164" w="3797506">
                <a:moveTo>
                  <a:pt x="0" y="0"/>
                </a:moveTo>
                <a:lnTo>
                  <a:pt x="3797506" y="0"/>
                </a:lnTo>
                <a:lnTo>
                  <a:pt x="3797506" y="3005165"/>
                </a:lnTo>
                <a:lnTo>
                  <a:pt x="0" y="3005165"/>
                </a:lnTo>
                <a:lnTo>
                  <a:pt x="0" y="0"/>
                </a:lnTo>
                <a:close/>
              </a:path>
            </a:pathLst>
          </a:custGeom>
          <a:blipFill>
            <a:blip r:embed="rId3"/>
            <a:stretch>
              <a:fillRect l="-4627" t="0" r="-4627" b="-6652"/>
            </a:stretch>
          </a:blipFill>
        </p:spPr>
      </p:sp>
      <p:sp>
        <p:nvSpPr>
          <p:cNvPr name="Freeform 7" id="7"/>
          <p:cNvSpPr/>
          <p:nvPr/>
        </p:nvSpPr>
        <p:spPr>
          <a:xfrm flipH="false" flipV="false" rot="0">
            <a:off x="5260104" y="6892573"/>
            <a:ext cx="3883896" cy="3005164"/>
          </a:xfrm>
          <a:custGeom>
            <a:avLst/>
            <a:gdLst/>
            <a:ahLst/>
            <a:cxnLst/>
            <a:rect r="r" b="b" t="t" l="l"/>
            <a:pathLst>
              <a:path h="3005164" w="3883896">
                <a:moveTo>
                  <a:pt x="0" y="0"/>
                </a:moveTo>
                <a:lnTo>
                  <a:pt x="3883896" y="0"/>
                </a:lnTo>
                <a:lnTo>
                  <a:pt x="3883896" y="3005165"/>
                </a:lnTo>
                <a:lnTo>
                  <a:pt x="0" y="3005165"/>
                </a:lnTo>
                <a:lnTo>
                  <a:pt x="0" y="0"/>
                </a:lnTo>
                <a:close/>
              </a:path>
            </a:pathLst>
          </a:custGeom>
          <a:blipFill>
            <a:blip r:embed="rId4"/>
            <a:stretch>
              <a:fillRect l="0" t="0" r="0" b="0"/>
            </a:stretch>
          </a:blipFill>
        </p:spPr>
      </p:sp>
      <p:sp>
        <p:nvSpPr>
          <p:cNvPr name="Freeform 8" id="8"/>
          <p:cNvSpPr/>
          <p:nvPr/>
        </p:nvSpPr>
        <p:spPr>
          <a:xfrm flipH="false" flipV="false" rot="0">
            <a:off x="13225950" y="3789996"/>
            <a:ext cx="4255100" cy="2885384"/>
          </a:xfrm>
          <a:custGeom>
            <a:avLst/>
            <a:gdLst/>
            <a:ahLst/>
            <a:cxnLst/>
            <a:rect r="r" b="b" t="t" l="l"/>
            <a:pathLst>
              <a:path h="2885384" w="4255100">
                <a:moveTo>
                  <a:pt x="0" y="0"/>
                </a:moveTo>
                <a:lnTo>
                  <a:pt x="4255100" y="0"/>
                </a:lnTo>
                <a:lnTo>
                  <a:pt x="4255100" y="2885384"/>
                </a:lnTo>
                <a:lnTo>
                  <a:pt x="0" y="2885384"/>
                </a:lnTo>
                <a:lnTo>
                  <a:pt x="0" y="0"/>
                </a:lnTo>
                <a:close/>
              </a:path>
            </a:pathLst>
          </a:custGeom>
          <a:blipFill>
            <a:blip r:embed="rId5"/>
            <a:stretch>
              <a:fillRect l="0" t="0" r="0" b="-4151"/>
            </a:stretch>
          </a:blipFill>
        </p:spPr>
      </p:sp>
      <p:sp>
        <p:nvSpPr>
          <p:cNvPr name="TextBox 9" id="9"/>
          <p:cNvSpPr txBox="true"/>
          <p:nvPr/>
        </p:nvSpPr>
        <p:spPr>
          <a:xfrm rot="0">
            <a:off x="3986169" y="1001918"/>
            <a:ext cx="10315663" cy="787864"/>
          </a:xfrm>
          <a:prstGeom prst="rect">
            <a:avLst/>
          </a:prstGeom>
        </p:spPr>
        <p:txBody>
          <a:bodyPr anchor="t" rtlCol="false" tIns="0" lIns="0" bIns="0" rIns="0">
            <a:spAutoFit/>
          </a:bodyPr>
          <a:lstStyle/>
          <a:p>
            <a:pPr algn="ctr">
              <a:lnSpc>
                <a:spcPts val="5893"/>
              </a:lnSpc>
            </a:pPr>
            <a:r>
              <a:rPr lang="en-US" b="true" sz="5893">
                <a:solidFill>
                  <a:srgbClr val="785042"/>
                </a:solidFill>
                <a:latin typeface="Saira Bold"/>
                <a:ea typeface="Saira Bold"/>
                <a:cs typeface="Saira Bold"/>
                <a:sym typeface="Saira Bold"/>
              </a:rPr>
              <a:t>CERTIFICATES</a:t>
            </a:r>
          </a:p>
        </p:txBody>
      </p:sp>
      <p:sp>
        <p:nvSpPr>
          <p:cNvPr name="TextBox 10" id="10"/>
          <p:cNvSpPr txBox="true"/>
          <p:nvPr/>
        </p:nvSpPr>
        <p:spPr>
          <a:xfrm rot="0">
            <a:off x="1442422" y="8769140"/>
            <a:ext cx="2283047" cy="306593"/>
          </a:xfrm>
          <a:prstGeom prst="rect">
            <a:avLst/>
          </a:prstGeom>
        </p:spPr>
        <p:txBody>
          <a:bodyPr anchor="t" rtlCol="false" tIns="0" lIns="0" bIns="0" rIns="0">
            <a:spAutoFit/>
          </a:bodyPr>
          <a:lstStyle/>
          <a:p>
            <a:pPr algn="ctr">
              <a:lnSpc>
                <a:spcPts val="2520"/>
              </a:lnSpc>
            </a:pPr>
            <a:r>
              <a:rPr lang="en-US" sz="1800">
                <a:solidFill>
                  <a:srgbClr val="ECDDD4"/>
                </a:solidFill>
                <a:latin typeface="Saira"/>
                <a:ea typeface="Saira"/>
                <a:cs typeface="Saira"/>
                <a:sym typeface="Saira"/>
              </a:rPr>
              <a:t>Clear Goals</a:t>
            </a:r>
          </a:p>
        </p:txBody>
      </p:sp>
      <p:sp>
        <p:nvSpPr>
          <p:cNvPr name="TextBox 11" id="11"/>
          <p:cNvSpPr txBox="true"/>
          <p:nvPr/>
        </p:nvSpPr>
        <p:spPr>
          <a:xfrm rot="0">
            <a:off x="16235087" y="1265210"/>
            <a:ext cx="1026964" cy="242231"/>
          </a:xfrm>
          <a:prstGeom prst="rect">
            <a:avLst/>
          </a:prstGeom>
        </p:spPr>
        <p:txBody>
          <a:bodyPr anchor="t" rtlCol="false" tIns="0" lIns="0" bIns="0" rIns="0">
            <a:spAutoFit/>
          </a:bodyPr>
          <a:lstStyle/>
          <a:p>
            <a:pPr algn="r">
              <a:lnSpc>
                <a:spcPts val="1620"/>
              </a:lnSpc>
            </a:pPr>
            <a:r>
              <a:rPr lang="en-US" sz="2189">
                <a:solidFill>
                  <a:srgbClr val="ECDDD4"/>
                </a:solidFill>
                <a:latin typeface="Saira"/>
                <a:ea typeface="Saira"/>
                <a:cs typeface="Saira"/>
                <a:sym typeface="Saira"/>
              </a:rPr>
              <a:t>Page 5</a:t>
            </a:r>
          </a:p>
        </p:txBody>
      </p:sp>
      <p:sp>
        <p:nvSpPr>
          <p:cNvPr name="TextBox 12" id="12"/>
          <p:cNvSpPr txBox="true"/>
          <p:nvPr/>
        </p:nvSpPr>
        <p:spPr>
          <a:xfrm rot="0">
            <a:off x="8210713" y="8769140"/>
            <a:ext cx="2283047" cy="306593"/>
          </a:xfrm>
          <a:prstGeom prst="rect">
            <a:avLst/>
          </a:prstGeom>
        </p:spPr>
        <p:txBody>
          <a:bodyPr anchor="t" rtlCol="false" tIns="0" lIns="0" bIns="0" rIns="0">
            <a:spAutoFit/>
          </a:bodyPr>
          <a:lstStyle/>
          <a:p>
            <a:pPr algn="ctr">
              <a:lnSpc>
                <a:spcPts val="2520"/>
              </a:lnSpc>
            </a:pPr>
            <a:r>
              <a:rPr lang="en-US" sz="1800">
                <a:solidFill>
                  <a:srgbClr val="ECDDD4"/>
                </a:solidFill>
                <a:latin typeface="Saira"/>
                <a:ea typeface="Saira"/>
                <a:cs typeface="Saira"/>
                <a:sym typeface="Saira"/>
              </a:rPr>
              <a:t>Creative Content</a:t>
            </a:r>
          </a:p>
        </p:txBody>
      </p:sp>
      <p:sp>
        <p:nvSpPr>
          <p:cNvPr name="TextBox 13" id="13"/>
          <p:cNvSpPr txBox="true"/>
          <p:nvPr/>
        </p:nvSpPr>
        <p:spPr>
          <a:xfrm rot="0">
            <a:off x="14979004" y="8637493"/>
            <a:ext cx="2283047" cy="620807"/>
          </a:xfrm>
          <a:prstGeom prst="rect">
            <a:avLst/>
          </a:prstGeom>
        </p:spPr>
        <p:txBody>
          <a:bodyPr anchor="t" rtlCol="false" tIns="0" lIns="0" bIns="0" rIns="0">
            <a:spAutoFit/>
          </a:bodyPr>
          <a:lstStyle/>
          <a:p>
            <a:pPr algn="ctr">
              <a:lnSpc>
                <a:spcPts val="2520"/>
              </a:lnSpc>
            </a:pPr>
            <a:r>
              <a:rPr lang="en-US" sz="1800">
                <a:solidFill>
                  <a:srgbClr val="ECDDD4"/>
                </a:solidFill>
                <a:latin typeface="Saira"/>
                <a:ea typeface="Saira"/>
                <a:cs typeface="Saira"/>
                <a:sym typeface="Saira"/>
              </a:rPr>
              <a:t>Engagement and Interaction</a:t>
            </a:r>
          </a:p>
        </p:txBody>
      </p:sp>
      <p:sp>
        <p:nvSpPr>
          <p:cNvPr name="TextBox 14" id="14"/>
          <p:cNvSpPr txBox="true"/>
          <p:nvPr/>
        </p:nvSpPr>
        <p:spPr>
          <a:xfrm rot="0">
            <a:off x="1443436" y="1723107"/>
            <a:ext cx="16232336" cy="2160257"/>
          </a:xfrm>
          <a:prstGeom prst="rect">
            <a:avLst/>
          </a:prstGeom>
        </p:spPr>
        <p:txBody>
          <a:bodyPr anchor="t" rtlCol="false" tIns="0" lIns="0" bIns="0" rIns="0">
            <a:spAutoFit/>
          </a:bodyPr>
          <a:lstStyle/>
          <a:p>
            <a:pPr algn="l" marL="664003" indent="-332001" lvl="1">
              <a:lnSpc>
                <a:spcPts val="4305"/>
              </a:lnSpc>
              <a:buAutoNum type="arabicPeriod" startAt="1"/>
            </a:pPr>
            <a:r>
              <a:rPr lang="en-US" sz="3075">
                <a:solidFill>
                  <a:srgbClr val="000000"/>
                </a:solidFill>
                <a:latin typeface="Saira"/>
                <a:ea typeface="Saira"/>
                <a:cs typeface="Saira"/>
                <a:sym typeface="Saira"/>
              </a:rPr>
              <a:t>HP cartificate: AI for beginners</a:t>
            </a:r>
          </a:p>
          <a:p>
            <a:pPr algn="l" marL="664003" indent="-332001" lvl="1">
              <a:lnSpc>
                <a:spcPts val="4305"/>
              </a:lnSpc>
              <a:buAutoNum type="arabicPeriod" startAt="1"/>
            </a:pPr>
            <a:r>
              <a:rPr lang="en-US" sz="3075">
                <a:solidFill>
                  <a:srgbClr val="000000"/>
                </a:solidFill>
                <a:latin typeface="Saira"/>
                <a:ea typeface="Saira"/>
                <a:cs typeface="Saira"/>
                <a:sym typeface="Saira"/>
              </a:rPr>
              <a:t>Saylor academy: Introduction to programming</a:t>
            </a:r>
          </a:p>
          <a:p>
            <a:pPr algn="l" marL="664003" indent="-332001" lvl="1">
              <a:lnSpc>
                <a:spcPts val="4305"/>
              </a:lnSpc>
              <a:buAutoNum type="arabicPeriod" startAt="1"/>
            </a:pPr>
            <a:r>
              <a:rPr lang="en-US" sz="3075">
                <a:solidFill>
                  <a:srgbClr val="000000"/>
                </a:solidFill>
                <a:latin typeface="Saira"/>
                <a:ea typeface="Saira"/>
                <a:cs typeface="Saira"/>
                <a:sym typeface="Saira"/>
              </a:rPr>
              <a:t>HP certificate: Professional career for personal growth</a:t>
            </a:r>
          </a:p>
          <a:p>
            <a:pPr algn="l" marL="664003" indent="-332001" lvl="1">
              <a:lnSpc>
                <a:spcPts val="4305"/>
              </a:lnSpc>
              <a:spcBef>
                <a:spcPct val="0"/>
              </a:spcBef>
              <a:buAutoNum type="arabicPeriod" startAt="1"/>
            </a:pPr>
            <a:r>
              <a:rPr lang="en-US" sz="3075">
                <a:solidFill>
                  <a:srgbClr val="000000"/>
                </a:solidFill>
                <a:latin typeface="Saira"/>
                <a:ea typeface="Saira"/>
                <a:cs typeface="Saira"/>
                <a:sym typeface="Saira"/>
              </a:rPr>
              <a:t>Saylor academy: Building with artificial intelligence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CDDD4"/>
        </a:solidFill>
      </p:bgPr>
    </p:bg>
    <p:spTree>
      <p:nvGrpSpPr>
        <p:cNvPr id="1" name=""/>
        <p:cNvGrpSpPr/>
        <p:nvPr/>
      </p:nvGrpSpPr>
      <p:grpSpPr>
        <a:xfrm>
          <a:off x="0" y="0"/>
          <a:ext cx="0" cy="0"/>
          <a:chOff x="0" y="0"/>
          <a:chExt cx="0" cy="0"/>
        </a:xfrm>
      </p:grpSpPr>
      <p:grpSp>
        <p:nvGrpSpPr>
          <p:cNvPr name="Group 2" id="2"/>
          <p:cNvGrpSpPr/>
          <p:nvPr/>
        </p:nvGrpSpPr>
        <p:grpSpPr>
          <a:xfrm rot="0">
            <a:off x="15190573" y="-30208"/>
            <a:ext cx="3110490" cy="633626"/>
            <a:chOff x="0" y="0"/>
            <a:chExt cx="819224" cy="166881"/>
          </a:xfrm>
        </p:grpSpPr>
        <p:sp>
          <p:nvSpPr>
            <p:cNvPr name="Freeform 3" id="3"/>
            <p:cNvSpPr/>
            <p:nvPr/>
          </p:nvSpPr>
          <p:spPr>
            <a:xfrm flipH="false" flipV="false" rot="0">
              <a:off x="0" y="0"/>
              <a:ext cx="819224" cy="166881"/>
            </a:xfrm>
            <a:custGeom>
              <a:avLst/>
              <a:gdLst/>
              <a:ahLst/>
              <a:cxnLst/>
              <a:rect r="r" b="b" t="t" l="l"/>
              <a:pathLst>
                <a:path h="166881" w="819224">
                  <a:moveTo>
                    <a:pt x="37335" y="0"/>
                  </a:moveTo>
                  <a:lnTo>
                    <a:pt x="781889" y="0"/>
                  </a:lnTo>
                  <a:cubicBezTo>
                    <a:pt x="791791" y="0"/>
                    <a:pt x="801287" y="3933"/>
                    <a:pt x="808289" y="10935"/>
                  </a:cubicBezTo>
                  <a:cubicBezTo>
                    <a:pt x="815290" y="17937"/>
                    <a:pt x="819224" y="27433"/>
                    <a:pt x="819224" y="37335"/>
                  </a:cubicBezTo>
                  <a:lnTo>
                    <a:pt x="819224" y="129546"/>
                  </a:lnTo>
                  <a:cubicBezTo>
                    <a:pt x="819224" y="139448"/>
                    <a:pt x="815290" y="148944"/>
                    <a:pt x="808289" y="155946"/>
                  </a:cubicBezTo>
                  <a:cubicBezTo>
                    <a:pt x="801287" y="162948"/>
                    <a:pt x="791791" y="166881"/>
                    <a:pt x="781889" y="166881"/>
                  </a:cubicBezTo>
                  <a:lnTo>
                    <a:pt x="37335" y="166881"/>
                  </a:lnTo>
                  <a:cubicBezTo>
                    <a:pt x="16715" y="166881"/>
                    <a:pt x="0" y="150166"/>
                    <a:pt x="0" y="129546"/>
                  </a:cubicBezTo>
                  <a:lnTo>
                    <a:pt x="0" y="37335"/>
                  </a:lnTo>
                  <a:cubicBezTo>
                    <a:pt x="0" y="27433"/>
                    <a:pt x="3933" y="17937"/>
                    <a:pt x="10935" y="10935"/>
                  </a:cubicBezTo>
                  <a:cubicBezTo>
                    <a:pt x="17937" y="3933"/>
                    <a:pt x="27433" y="0"/>
                    <a:pt x="37335" y="0"/>
                  </a:cubicBezTo>
                  <a:close/>
                </a:path>
              </a:pathLst>
            </a:custGeom>
            <a:solidFill>
              <a:srgbClr val="442D26"/>
            </a:solidFill>
          </p:spPr>
        </p:sp>
        <p:sp>
          <p:nvSpPr>
            <p:cNvPr name="TextBox 4" id="4"/>
            <p:cNvSpPr txBox="true"/>
            <p:nvPr/>
          </p:nvSpPr>
          <p:spPr>
            <a:xfrm>
              <a:off x="0" y="85725"/>
              <a:ext cx="819224" cy="81156"/>
            </a:xfrm>
            <a:prstGeom prst="rect">
              <a:avLst/>
            </a:prstGeom>
          </p:spPr>
          <p:txBody>
            <a:bodyPr anchor="ctr" rtlCol="false" tIns="50800" lIns="50800" bIns="50800" rIns="50800"/>
            <a:lstStyle/>
            <a:p>
              <a:pPr algn="ctr">
                <a:lnSpc>
                  <a:spcPts val="1620"/>
                </a:lnSpc>
              </a:pPr>
              <a:r>
                <a:rPr lang="en-US" sz="2189">
                  <a:solidFill>
                    <a:srgbClr val="FFFFFF"/>
                  </a:solidFill>
                  <a:latin typeface="Saira"/>
                  <a:ea typeface="Saira"/>
                  <a:cs typeface="Saira"/>
                  <a:sym typeface="Saira"/>
                </a:rPr>
                <a:t>Page 6</a:t>
              </a:r>
            </a:p>
          </p:txBody>
        </p:sp>
      </p:grpSp>
      <p:grpSp>
        <p:nvGrpSpPr>
          <p:cNvPr name="Group 5" id="5"/>
          <p:cNvGrpSpPr/>
          <p:nvPr/>
        </p:nvGrpSpPr>
        <p:grpSpPr>
          <a:xfrm rot="0">
            <a:off x="-205631" y="7415994"/>
            <a:ext cx="3110490" cy="3154232"/>
            <a:chOff x="0" y="0"/>
            <a:chExt cx="819224" cy="830744"/>
          </a:xfrm>
        </p:grpSpPr>
        <p:sp>
          <p:nvSpPr>
            <p:cNvPr name="Freeform 6" id="6"/>
            <p:cNvSpPr/>
            <p:nvPr/>
          </p:nvSpPr>
          <p:spPr>
            <a:xfrm flipH="false" flipV="false" rot="0">
              <a:off x="0" y="0"/>
              <a:ext cx="819224" cy="830744"/>
            </a:xfrm>
            <a:custGeom>
              <a:avLst/>
              <a:gdLst/>
              <a:ahLst/>
              <a:cxnLst/>
              <a:rect r="r" b="b" t="t" l="l"/>
              <a:pathLst>
                <a:path h="830744" w="819224">
                  <a:moveTo>
                    <a:pt x="37335" y="0"/>
                  </a:moveTo>
                  <a:lnTo>
                    <a:pt x="781889" y="0"/>
                  </a:lnTo>
                  <a:cubicBezTo>
                    <a:pt x="791791" y="0"/>
                    <a:pt x="801287" y="3933"/>
                    <a:pt x="808289" y="10935"/>
                  </a:cubicBezTo>
                  <a:cubicBezTo>
                    <a:pt x="815290" y="17937"/>
                    <a:pt x="819224" y="27433"/>
                    <a:pt x="819224" y="37335"/>
                  </a:cubicBezTo>
                  <a:lnTo>
                    <a:pt x="819224" y="793410"/>
                  </a:lnTo>
                  <a:cubicBezTo>
                    <a:pt x="819224" y="814029"/>
                    <a:pt x="802508" y="830744"/>
                    <a:pt x="781889" y="830744"/>
                  </a:cubicBezTo>
                  <a:lnTo>
                    <a:pt x="37335" y="830744"/>
                  </a:lnTo>
                  <a:cubicBezTo>
                    <a:pt x="27433" y="830744"/>
                    <a:pt x="17937" y="826811"/>
                    <a:pt x="10935" y="819809"/>
                  </a:cubicBezTo>
                  <a:cubicBezTo>
                    <a:pt x="3933" y="812808"/>
                    <a:pt x="0" y="803311"/>
                    <a:pt x="0" y="793410"/>
                  </a:cubicBezTo>
                  <a:lnTo>
                    <a:pt x="0" y="37335"/>
                  </a:lnTo>
                  <a:cubicBezTo>
                    <a:pt x="0" y="27433"/>
                    <a:pt x="3933" y="17937"/>
                    <a:pt x="10935" y="10935"/>
                  </a:cubicBezTo>
                  <a:cubicBezTo>
                    <a:pt x="17937" y="3933"/>
                    <a:pt x="27433" y="0"/>
                    <a:pt x="37335" y="0"/>
                  </a:cubicBezTo>
                  <a:close/>
                </a:path>
              </a:pathLst>
            </a:custGeom>
            <a:solidFill>
              <a:srgbClr val="442D26"/>
            </a:solidFill>
          </p:spPr>
        </p:sp>
        <p:sp>
          <p:nvSpPr>
            <p:cNvPr name="TextBox 7" id="7"/>
            <p:cNvSpPr txBox="true"/>
            <p:nvPr/>
          </p:nvSpPr>
          <p:spPr>
            <a:xfrm>
              <a:off x="0" y="85725"/>
              <a:ext cx="819224" cy="745019"/>
            </a:xfrm>
            <a:prstGeom prst="rect">
              <a:avLst/>
            </a:prstGeom>
          </p:spPr>
          <p:txBody>
            <a:bodyPr anchor="ctr" rtlCol="false" tIns="50800" lIns="50800" bIns="50800" rIns="50800"/>
            <a:lstStyle/>
            <a:p>
              <a:pPr algn="ctr">
                <a:lnSpc>
                  <a:spcPts val="1620"/>
                </a:lnSpc>
              </a:pPr>
            </a:p>
          </p:txBody>
        </p:sp>
      </p:grpSp>
      <p:sp>
        <p:nvSpPr>
          <p:cNvPr name="Freeform 8" id="8"/>
          <p:cNvSpPr/>
          <p:nvPr/>
        </p:nvSpPr>
        <p:spPr>
          <a:xfrm flipH="false" flipV="false" rot="0">
            <a:off x="1028700" y="5770343"/>
            <a:ext cx="7291280" cy="3745666"/>
          </a:xfrm>
          <a:custGeom>
            <a:avLst/>
            <a:gdLst/>
            <a:ahLst/>
            <a:cxnLst/>
            <a:rect r="r" b="b" t="t" l="l"/>
            <a:pathLst>
              <a:path h="3745666" w="7291280">
                <a:moveTo>
                  <a:pt x="0" y="0"/>
                </a:moveTo>
                <a:lnTo>
                  <a:pt x="7291280" y="0"/>
                </a:lnTo>
                <a:lnTo>
                  <a:pt x="7291280" y="3745666"/>
                </a:lnTo>
                <a:lnTo>
                  <a:pt x="0" y="3745666"/>
                </a:lnTo>
                <a:lnTo>
                  <a:pt x="0" y="0"/>
                </a:lnTo>
                <a:close/>
              </a:path>
            </a:pathLst>
          </a:custGeom>
          <a:blipFill>
            <a:blip r:embed="rId2"/>
            <a:stretch>
              <a:fillRect l="0" t="-9249" r="0" b="-9249"/>
            </a:stretch>
          </a:blipFill>
        </p:spPr>
      </p:sp>
      <p:sp>
        <p:nvSpPr>
          <p:cNvPr name="Freeform 9" id="9"/>
          <p:cNvSpPr/>
          <p:nvPr/>
        </p:nvSpPr>
        <p:spPr>
          <a:xfrm flipH="false" flipV="false" rot="0">
            <a:off x="10438094" y="1109449"/>
            <a:ext cx="5780746" cy="3453996"/>
          </a:xfrm>
          <a:custGeom>
            <a:avLst/>
            <a:gdLst/>
            <a:ahLst/>
            <a:cxnLst/>
            <a:rect r="r" b="b" t="t" l="l"/>
            <a:pathLst>
              <a:path h="3453996" w="5780746">
                <a:moveTo>
                  <a:pt x="0" y="0"/>
                </a:moveTo>
                <a:lnTo>
                  <a:pt x="5780746" y="0"/>
                </a:lnTo>
                <a:lnTo>
                  <a:pt x="5780746" y="3453995"/>
                </a:lnTo>
                <a:lnTo>
                  <a:pt x="0" y="3453995"/>
                </a:lnTo>
                <a:lnTo>
                  <a:pt x="0" y="0"/>
                </a:lnTo>
                <a:close/>
              </a:path>
            </a:pathLst>
          </a:custGeom>
          <a:blipFill>
            <a:blip r:embed="rId3"/>
            <a:stretch>
              <a:fillRect l="0" t="0" r="0" b="0"/>
            </a:stretch>
          </a:blipFill>
        </p:spPr>
      </p:sp>
      <p:grpSp>
        <p:nvGrpSpPr>
          <p:cNvPr name="Group 10" id="10"/>
          <p:cNvGrpSpPr/>
          <p:nvPr/>
        </p:nvGrpSpPr>
        <p:grpSpPr>
          <a:xfrm rot="0">
            <a:off x="-955653" y="155623"/>
            <a:ext cx="5902552" cy="1587452"/>
            <a:chOff x="0" y="0"/>
            <a:chExt cx="1554582" cy="418094"/>
          </a:xfrm>
        </p:grpSpPr>
        <p:sp>
          <p:nvSpPr>
            <p:cNvPr name="Freeform 11" id="11"/>
            <p:cNvSpPr/>
            <p:nvPr/>
          </p:nvSpPr>
          <p:spPr>
            <a:xfrm flipH="false" flipV="false" rot="0">
              <a:off x="0" y="0"/>
              <a:ext cx="1554582" cy="418094"/>
            </a:xfrm>
            <a:custGeom>
              <a:avLst/>
              <a:gdLst/>
              <a:ahLst/>
              <a:cxnLst/>
              <a:rect r="r" b="b" t="t" l="l"/>
              <a:pathLst>
                <a:path h="418094" w="1554582">
                  <a:moveTo>
                    <a:pt x="1351382" y="0"/>
                  </a:moveTo>
                  <a:cubicBezTo>
                    <a:pt x="1463606" y="0"/>
                    <a:pt x="1554582" y="93594"/>
                    <a:pt x="1554582" y="209047"/>
                  </a:cubicBezTo>
                  <a:cubicBezTo>
                    <a:pt x="1554582" y="324501"/>
                    <a:pt x="1463606" y="418094"/>
                    <a:pt x="1351382" y="418094"/>
                  </a:cubicBezTo>
                  <a:lnTo>
                    <a:pt x="203200" y="418094"/>
                  </a:lnTo>
                  <a:cubicBezTo>
                    <a:pt x="90976" y="418094"/>
                    <a:pt x="0" y="324501"/>
                    <a:pt x="0" y="209047"/>
                  </a:cubicBezTo>
                  <a:cubicBezTo>
                    <a:pt x="0" y="93594"/>
                    <a:pt x="90976" y="0"/>
                    <a:pt x="203200" y="0"/>
                  </a:cubicBezTo>
                  <a:close/>
                </a:path>
              </a:pathLst>
            </a:custGeom>
            <a:solidFill>
              <a:srgbClr val="ECDDD4">
                <a:alpha val="3922"/>
              </a:srgbClr>
            </a:solidFill>
            <a:ln w="66675" cap="sq">
              <a:solidFill>
                <a:srgbClr val="000000">
                  <a:alpha val="3922"/>
                </a:srgbClr>
              </a:solidFill>
              <a:prstDash val="solid"/>
              <a:miter/>
            </a:ln>
          </p:spPr>
        </p:sp>
        <p:sp>
          <p:nvSpPr>
            <p:cNvPr name="TextBox 12" id="12"/>
            <p:cNvSpPr txBox="true"/>
            <p:nvPr/>
          </p:nvSpPr>
          <p:spPr>
            <a:xfrm>
              <a:off x="0" y="85725"/>
              <a:ext cx="1554582" cy="332369"/>
            </a:xfrm>
            <a:prstGeom prst="rect">
              <a:avLst/>
            </a:prstGeom>
          </p:spPr>
          <p:txBody>
            <a:bodyPr anchor="ctr" rtlCol="false" tIns="50800" lIns="50800" bIns="50800" rIns="50800"/>
            <a:lstStyle/>
            <a:p>
              <a:pPr algn="ctr">
                <a:lnSpc>
                  <a:spcPts val="1620"/>
                </a:lnSpc>
              </a:pPr>
            </a:p>
          </p:txBody>
        </p:sp>
      </p:grpSp>
      <p:sp>
        <p:nvSpPr>
          <p:cNvPr name="TextBox 13" id="13"/>
          <p:cNvSpPr txBox="true"/>
          <p:nvPr/>
        </p:nvSpPr>
        <p:spPr>
          <a:xfrm rot="0">
            <a:off x="297506" y="603418"/>
            <a:ext cx="8319490" cy="904875"/>
          </a:xfrm>
          <a:prstGeom prst="rect">
            <a:avLst/>
          </a:prstGeom>
        </p:spPr>
        <p:txBody>
          <a:bodyPr anchor="t" rtlCol="false" tIns="0" lIns="0" bIns="0" rIns="0">
            <a:spAutoFit/>
          </a:bodyPr>
          <a:lstStyle/>
          <a:p>
            <a:pPr algn="just">
              <a:lnSpc>
                <a:spcPts val="7173"/>
              </a:lnSpc>
            </a:pPr>
            <a:r>
              <a:rPr lang="en-US" sz="5977">
                <a:solidFill>
                  <a:srgbClr val="442D26"/>
                </a:solidFill>
                <a:latin typeface="Gagalin"/>
                <a:ea typeface="Gagalin"/>
                <a:cs typeface="Gagalin"/>
                <a:sym typeface="Gagalin"/>
              </a:rPr>
              <a:t>Experience</a:t>
            </a:r>
          </a:p>
        </p:txBody>
      </p:sp>
      <p:sp>
        <p:nvSpPr>
          <p:cNvPr name="TextBox 14" id="14"/>
          <p:cNvSpPr txBox="true"/>
          <p:nvPr/>
        </p:nvSpPr>
        <p:spPr>
          <a:xfrm rot="0">
            <a:off x="10279432" y="5676672"/>
            <a:ext cx="6098070" cy="838200"/>
          </a:xfrm>
          <a:prstGeom prst="rect">
            <a:avLst/>
          </a:prstGeom>
        </p:spPr>
        <p:txBody>
          <a:bodyPr anchor="t" rtlCol="false" tIns="0" lIns="0" bIns="0" rIns="0">
            <a:spAutoFit/>
          </a:bodyPr>
          <a:lstStyle/>
          <a:p>
            <a:pPr algn="l">
              <a:lnSpc>
                <a:spcPts val="3360"/>
              </a:lnSpc>
            </a:pPr>
            <a:r>
              <a:rPr lang="en-US" sz="2800">
                <a:solidFill>
                  <a:srgbClr val="442D26"/>
                </a:solidFill>
                <a:latin typeface="Gagalin"/>
                <a:ea typeface="Gagalin"/>
                <a:cs typeface="Gagalin"/>
                <a:sym typeface="Gagalin"/>
              </a:rPr>
              <a:t>Here’s a step by step guide to boost audience engagement and growth</a:t>
            </a:r>
          </a:p>
        </p:txBody>
      </p:sp>
      <p:sp>
        <p:nvSpPr>
          <p:cNvPr name="TextBox 15" id="15"/>
          <p:cNvSpPr txBox="true"/>
          <p:nvPr/>
        </p:nvSpPr>
        <p:spPr>
          <a:xfrm rot="0">
            <a:off x="1028700" y="2453114"/>
            <a:ext cx="7291280" cy="2814981"/>
          </a:xfrm>
          <a:prstGeom prst="rect">
            <a:avLst/>
          </a:prstGeom>
        </p:spPr>
        <p:txBody>
          <a:bodyPr anchor="t" rtlCol="false" tIns="0" lIns="0" bIns="0" rIns="0">
            <a:spAutoFit/>
          </a:bodyPr>
          <a:lstStyle/>
          <a:p>
            <a:pPr algn="just">
              <a:lnSpc>
                <a:spcPts val="2824"/>
              </a:lnSpc>
            </a:pPr>
            <a:r>
              <a:rPr lang="en-US" sz="2017">
                <a:solidFill>
                  <a:srgbClr val="442D26"/>
                </a:solidFill>
                <a:latin typeface="Gagalin"/>
                <a:ea typeface="Gagalin"/>
                <a:cs typeface="Gagalin"/>
                <a:sym typeface="Gagalin"/>
              </a:rPr>
              <a:t>Audience engagement and growth are essential for building a loyal and active following on social media. Engagement refers to the interaction between your audience and your content (likes, comments, shares, clicks), while growth focuses on increasing your follower base and extending your reach. A strategy for both involves creating meaningful connections, fostering conversations, and providing value to your audience.</a:t>
            </a:r>
          </a:p>
        </p:txBody>
      </p:sp>
      <p:sp>
        <p:nvSpPr>
          <p:cNvPr name="TextBox 16" id="16"/>
          <p:cNvSpPr txBox="true"/>
          <p:nvPr/>
        </p:nvSpPr>
        <p:spPr>
          <a:xfrm rot="0">
            <a:off x="10279432" y="6975883"/>
            <a:ext cx="5781502" cy="2540125"/>
          </a:xfrm>
          <a:prstGeom prst="rect">
            <a:avLst/>
          </a:prstGeom>
        </p:spPr>
        <p:txBody>
          <a:bodyPr anchor="t" rtlCol="false" tIns="0" lIns="0" bIns="0" rIns="0">
            <a:spAutoFit/>
          </a:bodyPr>
          <a:lstStyle/>
          <a:p>
            <a:pPr algn="just" marL="449576" indent="-224788" lvl="1">
              <a:lnSpc>
                <a:spcPts val="2915"/>
              </a:lnSpc>
              <a:buFont typeface="Arial"/>
              <a:buChar char="•"/>
            </a:pPr>
            <a:r>
              <a:rPr lang="en-US" sz="2082">
                <a:solidFill>
                  <a:srgbClr val="442D26"/>
                </a:solidFill>
                <a:latin typeface="Gagalin"/>
                <a:ea typeface="Gagalin"/>
                <a:cs typeface="Gagalin"/>
                <a:sym typeface="Gagalin"/>
              </a:rPr>
              <a:t>Understand Your Audience</a:t>
            </a:r>
          </a:p>
          <a:p>
            <a:pPr algn="just" marL="449576" indent="-224788" lvl="1">
              <a:lnSpc>
                <a:spcPts val="2915"/>
              </a:lnSpc>
              <a:buFont typeface="Arial"/>
              <a:buChar char="•"/>
            </a:pPr>
            <a:r>
              <a:rPr lang="en-US" sz="2082">
                <a:solidFill>
                  <a:srgbClr val="442D26"/>
                </a:solidFill>
                <a:latin typeface="Gagalin"/>
                <a:ea typeface="Gagalin"/>
                <a:cs typeface="Gagalin"/>
                <a:sym typeface="Gagalin"/>
              </a:rPr>
              <a:t>Post High-Quality and Relevant Content</a:t>
            </a:r>
          </a:p>
          <a:p>
            <a:pPr algn="just" marL="449576" indent="-224788" lvl="1">
              <a:lnSpc>
                <a:spcPts val="2915"/>
              </a:lnSpc>
              <a:buFont typeface="Arial"/>
              <a:buChar char="•"/>
            </a:pPr>
            <a:r>
              <a:rPr lang="en-US" sz="2082">
                <a:solidFill>
                  <a:srgbClr val="442D26"/>
                </a:solidFill>
                <a:latin typeface="Gagalin"/>
                <a:ea typeface="Gagalin"/>
                <a:cs typeface="Gagalin"/>
                <a:sym typeface="Gagalin"/>
              </a:rPr>
              <a:t>Be Consistent with Posting</a:t>
            </a:r>
          </a:p>
          <a:p>
            <a:pPr algn="just" marL="449576" indent="-224788" lvl="1">
              <a:lnSpc>
                <a:spcPts val="2915"/>
              </a:lnSpc>
              <a:buFont typeface="Arial"/>
              <a:buChar char="•"/>
            </a:pPr>
            <a:r>
              <a:rPr lang="en-US" sz="2082">
                <a:solidFill>
                  <a:srgbClr val="442D26"/>
                </a:solidFill>
                <a:latin typeface="Gagalin"/>
                <a:ea typeface="Gagalin"/>
                <a:cs typeface="Gagalin"/>
                <a:sym typeface="Gagalin"/>
              </a:rPr>
              <a:t>Encourage Interaction</a:t>
            </a:r>
          </a:p>
          <a:p>
            <a:pPr algn="just" marL="449576" indent="-224788" lvl="1">
              <a:lnSpc>
                <a:spcPts val="2915"/>
              </a:lnSpc>
              <a:buFont typeface="Arial"/>
              <a:buChar char="•"/>
            </a:pPr>
            <a:r>
              <a:rPr lang="en-US" sz="2082">
                <a:solidFill>
                  <a:srgbClr val="442D26"/>
                </a:solidFill>
                <a:latin typeface="Gagalin"/>
                <a:ea typeface="Gagalin"/>
                <a:cs typeface="Gagalin"/>
                <a:sym typeface="Gagalin"/>
              </a:rPr>
              <a:t>Engage with Your Audience Actively</a:t>
            </a:r>
          </a:p>
          <a:p>
            <a:pPr algn="just" marL="449576" indent="-224788" lvl="1">
              <a:lnSpc>
                <a:spcPts val="2915"/>
              </a:lnSpc>
              <a:buFont typeface="Arial"/>
              <a:buChar char="•"/>
            </a:pPr>
            <a:r>
              <a:rPr lang="en-US" sz="2082">
                <a:solidFill>
                  <a:srgbClr val="442D26"/>
                </a:solidFill>
                <a:latin typeface="Gagalin"/>
                <a:ea typeface="Gagalin"/>
                <a:cs typeface="Gagalin"/>
                <a:sym typeface="Gagalin"/>
              </a:rPr>
              <a:t>Collaborate with Influencers and Partners</a:t>
            </a:r>
          </a:p>
        </p:txBody>
      </p:sp>
      <p:sp>
        <p:nvSpPr>
          <p:cNvPr name="TextBox 17" id="17"/>
          <p:cNvSpPr txBox="true"/>
          <p:nvPr/>
        </p:nvSpPr>
        <p:spPr>
          <a:xfrm rot="0">
            <a:off x="16884790" y="2258509"/>
            <a:ext cx="1026964" cy="242231"/>
          </a:xfrm>
          <a:prstGeom prst="rect">
            <a:avLst/>
          </a:prstGeom>
        </p:spPr>
        <p:txBody>
          <a:bodyPr anchor="t" rtlCol="false" tIns="0" lIns="0" bIns="0" rIns="0">
            <a:spAutoFit/>
          </a:bodyPr>
          <a:lstStyle/>
          <a:p>
            <a:pPr algn="r">
              <a:lnSpc>
                <a:spcPts val="1620"/>
              </a:lnSpc>
            </a:pPr>
            <a:r>
              <a:rPr lang="en-US" sz="2189">
                <a:solidFill>
                  <a:srgbClr val="ECDDD4"/>
                </a:solidFill>
                <a:latin typeface="Saira"/>
                <a:ea typeface="Saira"/>
                <a:cs typeface="Saira"/>
                <a:sym typeface="Saira"/>
              </a:rPr>
              <a:t>Page 6</a:t>
            </a:r>
          </a:p>
        </p:txBody>
      </p:sp>
      <p:sp>
        <p:nvSpPr>
          <p:cNvPr name="Freeform 18" id="18"/>
          <p:cNvSpPr/>
          <p:nvPr/>
        </p:nvSpPr>
        <p:spPr>
          <a:xfrm flipH="false" flipV="false" rot="0">
            <a:off x="1181100" y="5922743"/>
            <a:ext cx="7291280" cy="3745666"/>
          </a:xfrm>
          <a:custGeom>
            <a:avLst/>
            <a:gdLst/>
            <a:ahLst/>
            <a:cxnLst/>
            <a:rect r="r" b="b" t="t" l="l"/>
            <a:pathLst>
              <a:path h="3745666" w="7291280">
                <a:moveTo>
                  <a:pt x="0" y="0"/>
                </a:moveTo>
                <a:lnTo>
                  <a:pt x="7291280" y="0"/>
                </a:lnTo>
                <a:lnTo>
                  <a:pt x="7291280" y="3745666"/>
                </a:lnTo>
                <a:lnTo>
                  <a:pt x="0" y="3745666"/>
                </a:lnTo>
                <a:lnTo>
                  <a:pt x="0" y="0"/>
                </a:lnTo>
                <a:close/>
              </a:path>
            </a:pathLst>
          </a:custGeom>
          <a:blipFill>
            <a:blip r:embed="rId2"/>
            <a:stretch>
              <a:fillRect l="0" t="-9249" r="0" b="-924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DAHG_6rl78Q</dc:identifier>
  <dcterms:modified xsi:type="dcterms:W3CDTF">2011-08-01T06:04:30Z</dcterms:modified>
  <cp:revision>1</cp:revision>
  <dc:title>by Daniel Gallego</dc:title>
</cp:coreProperties>
</file>